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255db2101cd4438" /><Relationship Type="http://schemas.openxmlformats.org/officeDocument/2006/relationships/extended-properties" Target="/docProps/app.xml" Id="R0ed9936dc94645a9" /><Relationship Type="http://schemas.openxmlformats.org/officeDocument/2006/relationships/officeDocument" Target="/ppt/presentation.xml" Id="Rc02e2d1e66ff4554" /></Relationships>
</file>

<file path=ppt/presentation.xml><?xml version="1.0" encoding="utf-8"?>
<p:presentation xmlns:p="http://schemas.openxmlformats.org/presentationml/2006/main">
  <p:sldMasterIdLst>
    <p:sldMasterId xmlns:r="http://schemas.openxmlformats.org/officeDocument/2006/relationships" id="2147483648" r:id="R13085a672c904816"/>
  </p:sldMasterIdLst>
  <p:notesMasterIdLst>
    <p:notesMasterId xmlns:r="http://schemas.openxmlformats.org/officeDocument/2006/relationships" r:id="R4a0766e60c6d4839"/>
  </p:notesMasterIdLst>
  <p:sldIdLst>
    <p:sldId xmlns:r="http://schemas.openxmlformats.org/officeDocument/2006/relationships" id="256" r:id="Rd4bb9d8b38db41c1"/>
    <p:sldId xmlns:r="http://schemas.openxmlformats.org/officeDocument/2006/relationships" id="257" r:id="R4afa4fbd129b4adc"/>
    <p:sldId xmlns:r="http://schemas.openxmlformats.org/officeDocument/2006/relationships" id="258" r:id="R8474575a03ab42c8"/>
    <p:sldId xmlns:r="http://schemas.openxmlformats.org/officeDocument/2006/relationships" id="259" r:id="R4d2997d8f66a4e64"/>
    <p:sldId xmlns:r="http://schemas.openxmlformats.org/officeDocument/2006/relationships" id="260" r:id="R362cbad324ee40ca"/>
    <p:sldId xmlns:r="http://schemas.openxmlformats.org/officeDocument/2006/relationships" id="261" r:id="R247fe4ce954442d8"/>
    <p:sldId xmlns:r="http://schemas.openxmlformats.org/officeDocument/2006/relationships" id="262" r:id="R09b6135357ad43fe"/>
    <p:sldId xmlns:r="http://schemas.openxmlformats.org/officeDocument/2006/relationships" id="263" r:id="Rb39e4e752b3247bb"/>
    <p:sldId xmlns:r="http://schemas.openxmlformats.org/officeDocument/2006/relationships" id="264" r:id="R00742c3812ce492d"/>
    <p:sldId xmlns:r="http://schemas.openxmlformats.org/officeDocument/2006/relationships" id="265" r:id="R6cc6aac0a39841ed"/>
    <p:sldId xmlns:r="http://schemas.openxmlformats.org/officeDocument/2006/relationships" id="266" r:id="R032086d4098a4f75"/>
    <p:sldId xmlns:r="http://schemas.openxmlformats.org/officeDocument/2006/relationships" id="267" r:id="R9dbfd85eca1543d7"/>
    <p:sldId xmlns:r="http://schemas.openxmlformats.org/officeDocument/2006/relationships" id="268" r:id="Rc7a80cafe54c407d"/>
    <p:sldId xmlns:r="http://schemas.openxmlformats.org/officeDocument/2006/relationships" id="269" r:id="R7e59488dd29f47ce"/>
    <p:sldId xmlns:r="http://schemas.openxmlformats.org/officeDocument/2006/relationships" id="270" r:id="R0e6ba7e358684b9b"/>
    <p:sldId xmlns:r="http://schemas.openxmlformats.org/officeDocument/2006/relationships" id="271" r:id="R349db92b83dd4c49"/>
    <p:sldId xmlns:r="http://schemas.openxmlformats.org/officeDocument/2006/relationships" id="272" r:id="Rc505a61f0feb458e"/>
    <p:sldId xmlns:r="http://schemas.openxmlformats.org/officeDocument/2006/relationships" id="273" r:id="Rb52ed4adf8034e84"/>
    <p:sldId xmlns:r="http://schemas.openxmlformats.org/officeDocument/2006/relationships" id="274" r:id="Ra8c4c21221bc484b"/>
    <p:sldId xmlns:r="http://schemas.openxmlformats.org/officeDocument/2006/relationships" id="275" r:id="Rf6e28d35f65f4537"/>
    <p:sldId xmlns:r="http://schemas.openxmlformats.org/officeDocument/2006/relationships" id="276" r:id="Rba78bd488f5c4fea"/>
    <p:sldId xmlns:r="http://schemas.openxmlformats.org/officeDocument/2006/relationships" id="277" r:id="R3f46d9e429c94076"/>
    <p:sldId xmlns:r="http://schemas.openxmlformats.org/officeDocument/2006/relationships" id="278" r:id="Rb5a9c9b98f7d47c8"/>
    <p:sldId xmlns:r="http://schemas.openxmlformats.org/officeDocument/2006/relationships" id="279" r:id="Rdf37f963713843fa"/>
    <p:sldId xmlns:r="http://schemas.openxmlformats.org/officeDocument/2006/relationships" id="280" r:id="R4fa40c2160354eb0"/>
    <p:sldId xmlns:r="http://schemas.openxmlformats.org/officeDocument/2006/relationships" id="281" r:id="Rdeb63d5af12f4688"/>
    <p:sldId xmlns:r="http://schemas.openxmlformats.org/officeDocument/2006/relationships" id="282" r:id="R989d81cb4dd54201"/>
    <p:sldId xmlns:r="http://schemas.openxmlformats.org/officeDocument/2006/relationships" id="283" r:id="R1dcc8b485fc24c3e"/>
    <p:sldId xmlns:r="http://schemas.openxmlformats.org/officeDocument/2006/relationships" id="284" r:id="R9fc5b05bb695456a"/>
    <p:sldId xmlns:r="http://schemas.openxmlformats.org/officeDocument/2006/relationships" id="285" r:id="Rbd0de37434e3414d"/>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d089102d2b411b" /><Relationship Type="http://schemas.openxmlformats.org/officeDocument/2006/relationships/slideMaster" Target="/ppt/slideMasters/slideMaster1.xml" Id="R13085a672c904816" /><Relationship Type="http://schemas.openxmlformats.org/officeDocument/2006/relationships/notesMaster" Target="/ppt/notesMasters/notesMaster1.xml" Id="R4a0766e60c6d4839" /><Relationship Type="http://schemas.openxmlformats.org/officeDocument/2006/relationships/presProps" Target="/ppt/presProps.xml" Id="R6e574639a1064aca" /><Relationship Type="http://schemas.openxmlformats.org/officeDocument/2006/relationships/tableStyles" Target="/ppt/tableStyles.xml" Id="Rd25df75fcbb94ed1" /><Relationship Type="http://schemas.openxmlformats.org/officeDocument/2006/relationships/slide" Target="/ppt/slides/slide1.xml" Id="Rd4bb9d8b38db41c1" /><Relationship Type="http://schemas.openxmlformats.org/officeDocument/2006/relationships/slide" Target="/ppt/slides/slide2.xml" Id="R4afa4fbd129b4adc" /><Relationship Type="http://schemas.openxmlformats.org/officeDocument/2006/relationships/slide" Target="/ppt/slides/slide3.xml" Id="R8474575a03ab42c8" /><Relationship Type="http://schemas.openxmlformats.org/officeDocument/2006/relationships/slide" Target="/ppt/slides/slide4.xml" Id="R4d2997d8f66a4e64" /><Relationship Type="http://schemas.openxmlformats.org/officeDocument/2006/relationships/slide" Target="/ppt/slides/slide5.xml" Id="R362cbad324ee40ca" /><Relationship Type="http://schemas.openxmlformats.org/officeDocument/2006/relationships/slide" Target="/ppt/slides/slide6.xml" Id="R247fe4ce954442d8" /><Relationship Type="http://schemas.openxmlformats.org/officeDocument/2006/relationships/slide" Target="/ppt/slides/slide7.xml" Id="R09b6135357ad43fe" /><Relationship Type="http://schemas.openxmlformats.org/officeDocument/2006/relationships/slide" Target="/ppt/slides/slide8.xml" Id="Rb39e4e752b3247bb" /><Relationship Type="http://schemas.openxmlformats.org/officeDocument/2006/relationships/slide" Target="/ppt/slides/slide9.xml" Id="R00742c3812ce492d" /><Relationship Type="http://schemas.openxmlformats.org/officeDocument/2006/relationships/slide" Target="/ppt/slides/slide10.xml" Id="R6cc6aac0a39841ed" /><Relationship Type="http://schemas.openxmlformats.org/officeDocument/2006/relationships/slide" Target="/ppt/slides/slide11.xml" Id="R032086d4098a4f75" /><Relationship Type="http://schemas.openxmlformats.org/officeDocument/2006/relationships/slide" Target="/ppt/slides/slide12.xml" Id="R9dbfd85eca1543d7" /><Relationship Type="http://schemas.openxmlformats.org/officeDocument/2006/relationships/slide" Target="/ppt/slides/slide13.xml" Id="Rc7a80cafe54c407d" /><Relationship Type="http://schemas.openxmlformats.org/officeDocument/2006/relationships/slide" Target="/ppt/slides/slide14.xml" Id="R7e59488dd29f47ce" /><Relationship Type="http://schemas.openxmlformats.org/officeDocument/2006/relationships/slide" Target="/ppt/slides/slide15.xml" Id="R0e6ba7e358684b9b" /><Relationship Type="http://schemas.openxmlformats.org/officeDocument/2006/relationships/slide" Target="/ppt/slides/slide16.xml" Id="R349db92b83dd4c49" /><Relationship Type="http://schemas.openxmlformats.org/officeDocument/2006/relationships/slide" Target="/ppt/slides/slide17.xml" Id="Rc505a61f0feb458e" /><Relationship Type="http://schemas.openxmlformats.org/officeDocument/2006/relationships/slide" Target="/ppt/slides/slide18.xml" Id="Rb52ed4adf8034e84" /><Relationship Type="http://schemas.openxmlformats.org/officeDocument/2006/relationships/slide" Target="/ppt/slides/slide19.xml" Id="Ra8c4c21221bc484b" /><Relationship Type="http://schemas.openxmlformats.org/officeDocument/2006/relationships/slide" Target="/ppt/slides/slide20.xml" Id="Rf6e28d35f65f4537" /><Relationship Type="http://schemas.openxmlformats.org/officeDocument/2006/relationships/slide" Target="/ppt/slides/slide21.xml" Id="Rba78bd488f5c4fea" /><Relationship Type="http://schemas.openxmlformats.org/officeDocument/2006/relationships/slide" Target="/ppt/slides/slide22.xml" Id="R3f46d9e429c94076" /><Relationship Type="http://schemas.openxmlformats.org/officeDocument/2006/relationships/slide" Target="/ppt/slides/slide23.xml" Id="Rb5a9c9b98f7d47c8" /><Relationship Type="http://schemas.openxmlformats.org/officeDocument/2006/relationships/slide" Target="/ppt/slides/slide24.xml" Id="Rdf37f963713843fa" /><Relationship Type="http://schemas.openxmlformats.org/officeDocument/2006/relationships/slide" Target="/ppt/slides/slide25.xml" Id="R4fa40c2160354eb0" /><Relationship Type="http://schemas.openxmlformats.org/officeDocument/2006/relationships/slide" Target="/ppt/slides/slide26.xml" Id="Rdeb63d5af12f4688" /><Relationship Type="http://schemas.openxmlformats.org/officeDocument/2006/relationships/slide" Target="/ppt/slides/slide27.xml" Id="R989d81cb4dd54201" /><Relationship Type="http://schemas.openxmlformats.org/officeDocument/2006/relationships/slide" Target="/ppt/slides/slide28.xml" Id="R1dcc8b485fc24c3e" /><Relationship Type="http://schemas.openxmlformats.org/officeDocument/2006/relationships/slide" Target="/ppt/slides/slide29.xml" Id="R9fc5b05bb695456a" /><Relationship Type="http://schemas.openxmlformats.org/officeDocument/2006/relationships/slide" Target="/ppt/slides/slide30.xml" Id="Rbd0de37434e341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13357dde4c46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9fb2ef62494560" /><Relationship Type="http://schemas.openxmlformats.org/officeDocument/2006/relationships/notesMaster" Target="/ppt/notesMasters/notesMaster1.xml" Id="R1b3b40b8144a46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a22de6c93441fb" /><Relationship Type="http://schemas.openxmlformats.org/officeDocument/2006/relationships/notesMaster" Target="/ppt/notesMasters/notesMaster1.xml" Id="Rd6f47f1703ed41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6c33b14c6440d2" /><Relationship Type="http://schemas.openxmlformats.org/officeDocument/2006/relationships/notesMaster" Target="/ppt/notesMasters/notesMaster1.xml" Id="Rd1295ec32c1848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3956228d0d456e" /><Relationship Type="http://schemas.openxmlformats.org/officeDocument/2006/relationships/notesMaster" Target="/ppt/notesMasters/notesMaster1.xml" Id="Ra7adb23fb7c448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dad605531d42ce" /><Relationship Type="http://schemas.openxmlformats.org/officeDocument/2006/relationships/notesMaster" Target="/ppt/notesMasters/notesMaster1.xml" Id="R9cc10c5c2aef4c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c84f0736c44413" /><Relationship Type="http://schemas.openxmlformats.org/officeDocument/2006/relationships/notesMaster" Target="/ppt/notesMasters/notesMaster1.xml" Id="R5bdbcbd62cfc4c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5c5bad35b648f9" /><Relationship Type="http://schemas.openxmlformats.org/officeDocument/2006/relationships/notesMaster" Target="/ppt/notesMasters/notesMaster1.xml" Id="R009d4b676bc848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8ad10f5cd745ca" /><Relationship Type="http://schemas.openxmlformats.org/officeDocument/2006/relationships/notesMaster" Target="/ppt/notesMasters/notesMaster1.xml" Id="Re8339b2c22d346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8fc259dcae4d27" /><Relationship Type="http://schemas.openxmlformats.org/officeDocument/2006/relationships/notesMaster" Target="/ppt/notesMasters/notesMaster1.xml" Id="R5fff264296e545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a5f3776f90492d" /><Relationship Type="http://schemas.openxmlformats.org/officeDocument/2006/relationships/notesMaster" Target="/ppt/notesMasters/notesMaster1.xml" Id="Rda17377c950f45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d4843eef074dee" /><Relationship Type="http://schemas.openxmlformats.org/officeDocument/2006/relationships/notesMaster" Target="/ppt/notesMasters/notesMaster1.xml" Id="Rf87fd00cd7584ba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131895c1fab4d71" /><Relationship Type="http://schemas.openxmlformats.org/officeDocument/2006/relationships/notesMaster" Target="/ppt/notesMasters/notesMaster1.xml" Id="R54957bf708e644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c9f649c0e2d4430" /><Relationship Type="http://schemas.openxmlformats.org/officeDocument/2006/relationships/notesMaster" Target="/ppt/notesMasters/notesMaster1.xml" Id="R37e00d35626446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59527a2bd304f5b" /><Relationship Type="http://schemas.openxmlformats.org/officeDocument/2006/relationships/notesMaster" Target="/ppt/notesMasters/notesMaster1.xml" Id="R211eafcb6499433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c69fe6f5d934514" /><Relationship Type="http://schemas.openxmlformats.org/officeDocument/2006/relationships/notesMaster" Target="/ppt/notesMasters/notesMaster1.xml" Id="R2da9c97db0314b9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5cb79f001654c93" /><Relationship Type="http://schemas.openxmlformats.org/officeDocument/2006/relationships/notesMaster" Target="/ppt/notesMasters/notesMaster1.xml" Id="R23f3c969fe31485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0efffd11b4f4e50" /><Relationship Type="http://schemas.openxmlformats.org/officeDocument/2006/relationships/notesMaster" Target="/ppt/notesMasters/notesMaster1.xml" Id="R2ac59fd180db4df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ce68844b46f4a63" /><Relationship Type="http://schemas.openxmlformats.org/officeDocument/2006/relationships/notesMaster" Target="/ppt/notesMasters/notesMaster1.xml" Id="R0c3fe534b61846b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e81c1ccf60e4f3e" /><Relationship Type="http://schemas.openxmlformats.org/officeDocument/2006/relationships/notesMaster" Target="/ppt/notesMasters/notesMaster1.xml" Id="R1fe35db912b4414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30edcf6db1e44bf" /><Relationship Type="http://schemas.openxmlformats.org/officeDocument/2006/relationships/notesMaster" Target="/ppt/notesMasters/notesMaster1.xml" Id="R2558d5bbb01844a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d9916ed34194988" /><Relationship Type="http://schemas.openxmlformats.org/officeDocument/2006/relationships/notesMaster" Target="/ppt/notesMasters/notesMaster1.xml" Id="R243bccd9b0d4446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80dfe3e06764765" /><Relationship Type="http://schemas.openxmlformats.org/officeDocument/2006/relationships/notesMaster" Target="/ppt/notesMasters/notesMaster1.xml" Id="R74f0de7b320745c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e203fe63ec948c1" /><Relationship Type="http://schemas.openxmlformats.org/officeDocument/2006/relationships/notesMaster" Target="/ppt/notesMasters/notesMaster1.xml" Id="R9710f54c72b14b9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154f293c9e742d6" /><Relationship Type="http://schemas.openxmlformats.org/officeDocument/2006/relationships/notesMaster" Target="/ppt/notesMasters/notesMaster1.xml" Id="Rda98b244ea8d411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2083728f71a4863" /><Relationship Type="http://schemas.openxmlformats.org/officeDocument/2006/relationships/notesMaster" Target="/ppt/notesMasters/notesMaster1.xml" Id="Rd5e14d39a1db4fc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da9cd8b5add4089" /><Relationship Type="http://schemas.openxmlformats.org/officeDocument/2006/relationships/notesMaster" Target="/ppt/notesMasters/notesMaster1.xml" Id="R0cfbb282110443d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4c8bedc6f7447dd" /><Relationship Type="http://schemas.openxmlformats.org/officeDocument/2006/relationships/notesMaster" Target="/ppt/notesMasters/notesMaster1.xml" Id="Ra6312c401b03454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b87d7f45c6040ab" /><Relationship Type="http://schemas.openxmlformats.org/officeDocument/2006/relationships/notesMaster" Target="/ppt/notesMasters/notesMaster1.xml" Id="Rd125db3540c5492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29bd99eb37f4598" /><Relationship Type="http://schemas.openxmlformats.org/officeDocument/2006/relationships/notesMaster" Target="/ppt/notesMasters/notesMaster1.xml" Id="R2e70a9f91c85453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e81b7dfac854f14" /><Relationship Type="http://schemas.openxmlformats.org/officeDocument/2006/relationships/notesMaster" Target="/ppt/notesMasters/notesMaster1.xml" Id="R6c5681538ebc42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Reverse engineering</a:t>
            </a:r>
          </a:p>
          <a:p xmlns:a="http://schemas.openxmlformats.org/drawingml/2006/main">
            <a:r>
              <a:t/>
            </a:r>
          </a:p>
          <a:p xmlns:a="http://schemas.openxmlformats.org/drawingml/2006/main">
            <a:r>
              <a:t>Teaching/style reference: ABMS_5_dacss.pdf, 23 slides, recovered from referenced chat attachment.</a:t>
            </a:r>
          </a:p>
          <a:p xmlns:a="http://schemas.openxmlformats.org/drawingml/2006/main">
            <a:r>
              <a:t/>
            </a:r>
          </a:p>
          <a:p xmlns:a="http://schemas.openxmlformats.org/drawingml/2006/main">
            <a:r>
              <a:t>Source: Schelling (1969), Models of Segregation, American Economic Review 59(2), pp. 488–493. Local sources/Schelling_1969.pdf.</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Policy context</a:t>
            </a:r>
          </a:p>
          <a:p xmlns:a="http://schemas.openxmlformats.org/drawingml/2006/main">
            <a:r>
              <a:t/>
            </a:r>
          </a:p>
          <a:p xmlns:a="http://schemas.openxmlformats.org/drawingml/2006/main">
            <a:r>
              <a:t>OECD (2018), Divided Cities: https://www.oecd.org/en/publications/divided-cities_9789264300385-en.html</a:t>
            </a:r>
          </a:p>
          <a:p xmlns:a="http://schemas.openxmlformats.org/drawingml/2006/main">
            <a:r>
              <a:t>Residential segregation can concentrate disadvantage and unequal access to opportunities. This context is not a result of the classroom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 teaching interpretation</a:t>
            </a:r>
          </a:p>
          <a:p xmlns:a="http://schemas.openxmlformats.org/drawingml/2006/main">
            <a:r>
              <a:t/>
            </a:r>
          </a:p>
          <a:p xmlns:a="http://schemas.openxmlformats.org/drawingml/2006/main">
            <a:r>
              <a:t>Source: Schelling (1969), Models of Segregation, American Economic Review 59(2), pp. 488–493. Local sources/Schelling_1969.pdf.</a:t>
            </a:r>
          </a:p>
          <a:p xmlns:a="http://schemas.openxmlformats.org/drawingml/2006/main">
            <a:r>
              <a:t/>
            </a:r>
          </a:p>
          <a:p xmlns:a="http://schemas.openxmlformats.org/drawingml/2006/main">
            <a:r>
              <a:t>Schelling (1969), pp. 488–490, 493. A possible mechanism, not a complete explanation of real segregation or a diagnosis of individual motives. The line example differs from the supplied grid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interpretation</a:t>
            </a:r>
          </a:p>
          <a:p xmlns:a="http://schemas.openxmlformats.org/drawingml/2006/main">
            <a:r>
              <a:t/>
            </a:r>
          </a:p>
          <a:p xmlns:a="http://schemas.openxmlformats.org/drawingml/2006/main">
            <a:r>
              <a:t>Source: Schelling (1969), Models of Segregation, American Economic Review 59(2), pp. 488–493. Local sources/Schelling_1969.pdf.</a:t>
            </a:r>
          </a:p>
          <a:p xmlns:a="http://schemas.openxmlformats.org/drawingml/2006/main">
            <a:r>
              <a:t/>
            </a:r>
          </a:p>
          <a:p xmlns:a="http://schemas.openxmlformats.org/drawingml/2006/main">
            <a:r>
              <a:t>OECD (2018), Divided Cities: https://www.oecd.org/en/publications/divided-cities_9789264300385-en.html</a:t>
            </a:r>
          </a:p>
          <a:p xmlns:a="http://schemas.openxmlformats.org/drawingml/2006/main">
            <a:r>
              <a:t>Interpretation: use models to examine possible feedback and assumptions. Specific program effects require additional mechanisms, data, and empirical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Classroom activity</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Use original model. No simulation results are supplied in this deck. Initial suggested settings are the actual interface defaults. Ask students to write predictions before running and observations after running.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scaffold</a:t>
            </a:r>
          </a:p>
          <a:p xmlns:a="http://schemas.openxmlformats.org/drawingml/2006/main">
            <a:r>
              <a:t/>
            </a:r>
          </a:p>
          <a:p xmlns:a="http://schemas.openxmlformats.org/drawingml/2006/main">
            <a:r>
              <a:t>Teaching/style reference: ABMS_5_dacss.pdf, 23 slides, recovered from referenced chat attachment.</a:t>
            </a:r>
          </a:p>
          <a:p xmlns:a="http://schemas.openxmlformats.org/drawingml/2006/main">
            <a:r>
              <a:t/>
            </a:r>
          </a:p>
          <a:p xmlns:a="http://schemas.openxmlformats.org/drawingml/2006/main">
            <a:r>
              <a:t>Session 5 constructed the representation progressively. Session 6 begins with a running model and recovers its specification. Four As, LUL, and flow remain distinct representations.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code</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Original declarations. Comments omitted for slide readability. Globals are model-wide variables, not attributes of an observer agent. update-globals later provides the exact definitions.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code + recovered ontology</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critique</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The code uses color for group membership, and size/shape for appearance. These are built-in turtle attributes and need no turtles-own declaration. A conceptual ontology must still explain their meaning.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redesign</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Teaching proposal, not original source code. Add group to turtles-own, assign it in setup, use group in all neighbour comparisons, and derive color from group. race is suitable only with an explicit interpretation of racial categorisation. No model file is changed by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code + recovered ontology</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First part of setup, comments omitted. NetLogo provides patches. ask patches initializes their states and occupancy, rather than creating the grid. sprout shifts execution into the newly created turtle context. Density is a per-patch probability, not an exact population percentage.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code + simple setup flow</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Closing lines of setup. update-turtles and update-globals are calls to procedures defined elsewhere. Their order establishes initial individual states before aggregate measures. reset-ticks establishes CLOCK=0.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code</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diagram from model code</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Leave subroutines as single boxes. The forever button calls go again. Flowchart shows procedural sequence, not structural class relations.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code</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The observer calls move-unhappy-turtles. ask selects unhappy turtles, and each turtle then calls find-new-spot. Turtle execution context carries into the called procedure.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model code</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Recursive search. After the deeper call returns, each earlier call executes move-to patch-here. These repeated centring instructions leave the same final location. The destination passes an occupancy check, not a happiness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rewrite</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Teaching rewrite, not the original model. Same final position and random search sequence. Only the call that finds an empty patch executes move-to. Earlier recursive calls return without repeating that instruction. No execution benchmark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model code excerpt</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Inside ask turtles in update-turtles. Comments omitted and lines wrapped. neighbors refers to eight surrounding patches. color inside with belongs to the candidate neighbour, while [color] of myself refers to the focal turtle.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code + worked illustration</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Synthetic numerical illustration, not a simulation result. Code directly compares counts and avoids local division by total-nearby. With zero neighbours, 0&gt;=0 evaluates true, so the turtle is happy.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model code</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Inside update-turtles. Color represents group and shape represents happiness. Changing to old sets size=1.3; switching back to square-x does not reset size. Proposed improvement: set size explicitly in both branches.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model code excerpt</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update-globals computes percent-unhappy. No custom reporter appears in this code: count, sum, and all? are built-in reporters, and globals hold values. The denominator is count turtles with no zero guard.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model code excerpt</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Exact formula from update-globals. Original comment loosely describes an average. Formula pools directed neighbour counts, giving greater weight to turtles with more neighbours. It is an indicator of local similarity, not a comprehensive empirical segregation 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reconstruction</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Teaching/style reference: ABMS_5_dacss.pdf, 23 slides, recovered from referenced chat attachment.</a:t>
            </a:r>
          </a:p>
          <a:p xmlns:a="http://schemas.openxmlformats.org/drawingml/2006/main">
            <a:r>
              <a:t/>
            </a:r>
          </a:p>
          <a:p xmlns:a="http://schemas.openxmlformats.org/drawingml/2006/main">
            <a:r>
              <a:t>Course labels verified against output/lul/From_Reality_to_Ontology_and_Flow.md. A1 Agent, A2 Arena, A3 Artificiality, A4 Array. The simplified model has no explicit housing market or institutional mechanisms. States and capabilities do not replace the course Four 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reconstruction</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Keep structure separate from sequence. Group is the explicit conceptual state proposed in class; source code represents it through color. Occupancy is derived from turtle presence. Patch supports location and adjacency as structural affordances, not named NetLogo procedures. Observer is the coordinating perspective, not an additional A1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experiment proposal</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Greater acceptance is represented as a hypothesized lower similarity threshold. This is a sensitivity experiment, not an evaluation of a named education or anti-discrimination program. This experiment studies random initial configurations and final patterns, not long-run stability under external shocks.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experiment proposal</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NetLogo BehaviorSpace Guide: https://docs.netlogo.org/7.0.2/behaviorspace</a:t>
            </a:r>
          </a:p>
          <a:p xmlns:a="http://schemas.openxmlformats.org/drawingml/2006/main">
            <a:r>
              <a:t>New proposed experiment, not a saved source experiment. 12 combinations × 20 repetitions = 240 runs. Uncheck Run metrics every step for final metrics. Keep visualization fixed. No runs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experiment proposal</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NetLogo BehaviorSpace Guide: https://docs.netlogo.org/7.0.2/behaviorspace</a:t>
            </a:r>
          </a:p>
          <a:p xmlns:a="http://schemas.openxmlformats.org/drawingml/2006/main">
            <a:r>
              <a:t>Separate capped runs from all-happy endings. Measurement globals have no division-by-zero guards. Stay within proposed non-extreme density range. Read % similar as a local similarity measure rather than a direct measure of welfare or opportunity.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analysis proposal</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Teaching/style reference: ABMS_5_dacss.pdf, 23 slides, recovered from referenced chat attachment.</a:t>
            </a:r>
          </a:p>
          <a:p xmlns:a="http://schemas.openxmlformats.org/drawingml/2006/main">
            <a:r>
              <a:t/>
            </a:r>
          </a:p>
          <a:p xmlns:a="http://schemas.openxmlformats.org/drawingml/2006/main">
            <a:r>
              <a:t>No outcomes or plots are fabricated. Students export the BehaviorSpace table and analyse repeated-run results outside NetLogo. Present individual run values and summaries by threshold and density. If plots show completed runs only, report the completion fraction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discussion</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Source: Schelling (1969), Models of Segregation, American Economic Review 59(2), pp. 488–493. Local sources/Schelling_1969.pdf.</a:t>
            </a:r>
          </a:p>
          <a:p xmlns:a="http://schemas.openxmlformats.org/drawingml/2006/main">
            <a:r>
              <a:t/>
            </a:r>
          </a:p>
          <a:p xmlns:a="http://schemas.openxmlformats.org/drawingml/2006/main">
            <a:r>
              <a:t>OECD (2018), Divided Cities: https://www.oecd.org/en/publications/divided-cities_9789264300385-en.html</a:t>
            </a:r>
          </a:p>
          <a:p xmlns:a="http://schemas.openxmlformats.org/drawingml/2006/main">
            <a:r>
              <a:t>Policy usefulness is conditional. A real intervention needs a mechanism connecting the intervention to changed preferences, feasible destinations or moving constraints. Group-state and ifelse changes are design proposals in this deck. No source files were modified.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distinctions</a:t>
            </a:r>
          </a:p>
          <a:p xmlns:a="http://schemas.openxmlformats.org/drawingml/2006/main">
            <a:r>
              <a:t/>
            </a:r>
          </a:p>
          <a:p xmlns:a="http://schemas.openxmlformats.org/drawingml/2006/main">
            <a:r>
              <a:t>Source: Schelling (1969), Models of Segregation, American Economic Review 59(2), pp. 488–493. Local sources/Schelling_1969.pdf.</a:t>
            </a:r>
          </a:p>
          <a:p xmlns:a="http://schemas.openxmlformats.org/drawingml/2006/main">
            <a:r>
              <a:t/>
            </a:r>
          </a:p>
          <a:p xmlns:a="http://schemas.openxmlformats.org/drawingml/2006/main">
            <a:r>
              <a:t>Source: /Users/josemanuelmagallanes/UMASS/DACSS_ABM/Segregation.nlogox, model version NetLogo 7.0.3. Code and widgets inspected. This local copy substitutes for inaccessible /mnt/data path. Model credit: Wilensky (1997), NetLogo Segregation model, CC BY-NC-SA 3.0.</a:t>
            </a:r>
          </a:p>
          <a:p xmlns:a="http://schemas.openxmlformats.org/drawingml/2006/main">
            <a:r>
              <a:t/>
            </a:r>
          </a:p>
          <a:p xmlns:a="http://schemas.openxmlformats.org/drawingml/2006/main">
            <a:r>
              <a:t>Teaching/style reference: ABMS_5_dacss.pdf, 23 slides, recovered from referenced chat attachment.</a:t>
            </a:r>
          </a:p>
          <a:p xmlns:a="http://schemas.openxmlformats.org/drawingml/2006/main">
            <a:r>
              <a:t/>
            </a:r>
          </a:p>
          <a:p xmlns:a="http://schemas.openxmlformats.org/drawingml/2006/main">
            <a:r>
              <a:t>OECD (2018), Divided Cities: https://www.oecd.org/en/publications/divided-cities_9789264300385-en.html</a:t>
            </a:r>
          </a:p>
          <a:p xmlns:a="http://schemas.openxmlformats.org/drawingml/2006/main">
            <a:r>
              <a:t>NetLogo BehaviorSpace Guide: https://docs.netlogo.org/7.0.2/behaviorspace</a:t>
            </a:r>
          </a:p>
          <a:p xmlns:a="http://schemas.openxmlformats.org/drawingml/2006/main">
            <a:r>
              <a:t>All source-code excerpts derive from supplied user code and verified local model. Whitespace and comments simplified for display. Full code is in slide notes. Reading source is separate from the grid implementation. No simulated outcomes provided.</a:t>
            </a:r>
          </a:p>
          <a:p xmlns:a="http://schemas.openxmlformats.org/drawingml/2006/main">
            <a:r>
              <a:t/>
            </a:r>
          </a:p>
          <a:p xmlns:a="http://schemas.openxmlformats.org/drawingml/2006/main">
            <a:r>
              <a:t>Full original supplied code:</a:t>
            </a:r>
          </a:p>
          <a:p xmlns:a="http://schemas.openxmlformats.org/drawingml/2006/main">
            <a:r>
              <a:t>globals [</a:t>
            </a:r>
          </a:p>
          <a:p xmlns:a="http://schemas.openxmlformats.org/drawingml/2006/main">
            <a:r>
              <a:t>  percent-similar  ; on the average, what percent of a turtle's neighbors</a:t>
            </a:r>
          </a:p>
          <a:p xmlns:a="http://schemas.openxmlformats.org/drawingml/2006/main">
            <a:r>
              <a:t>                   ; are the same color as that turtle?</a:t>
            </a:r>
          </a:p>
          <a:p xmlns:a="http://schemas.openxmlformats.org/drawingml/2006/main">
            <a:r>
              <a:t>  percent-unhappy  ; what percent of the turtles are unhappy?</a:t>
            </a:r>
          </a:p>
          <a:p xmlns:a="http://schemas.openxmlformats.org/drawingml/2006/main">
            <a:r>
              <a:t>]</a:t>
            </a:r>
          </a:p>
          <a:p xmlns:a="http://schemas.openxmlformats.org/drawingml/2006/main">
            <a:r>
              <a:t/>
            </a:r>
          </a:p>
          <a:p xmlns:a="http://schemas.openxmlformats.org/drawingml/2006/main">
            <a:r>
              <a:t>turtles-own [</a:t>
            </a:r>
          </a:p>
          <a:p xmlns:a="http://schemas.openxmlformats.org/drawingml/2006/main">
            <a:r>
              <a:t>  happy?           ; for each turtle, indicates whether at least %-similar-wanted percent of</a:t>
            </a:r>
          </a:p>
          <a:p xmlns:a="http://schemas.openxmlformats.org/drawingml/2006/main">
            <a:r>
              <a:t>                   ;   that turtle's neighbors are the same color as the turtle</a:t>
            </a:r>
          </a:p>
          <a:p xmlns:a="http://schemas.openxmlformats.org/drawingml/2006/main">
            <a:r>
              <a:t>  similar-nearby   ; how many neighboring patches have a turtle with my color?</a:t>
            </a:r>
          </a:p>
          <a:p xmlns:a="http://schemas.openxmlformats.org/drawingml/2006/main">
            <a:r>
              <a:t>  other-nearby     ; how many have a turtle of another color?</a:t>
            </a:r>
          </a:p>
          <a:p xmlns:a="http://schemas.openxmlformats.org/drawingml/2006/main">
            <a:r>
              <a:t>  total-nearby     ; sum of previous two variables</a:t>
            </a:r>
          </a:p>
          <a:p xmlns:a="http://schemas.openxmlformats.org/drawingml/2006/main">
            <a:r>
              <a:t>]</a:t>
            </a:r>
          </a:p>
          <a:p xmlns:a="http://schemas.openxmlformats.org/drawingml/2006/main">
            <a:r>
              <a:t/>
            </a:r>
          </a:p>
          <a:p xmlns:a="http://schemas.openxmlformats.org/drawingml/2006/main">
            <a:r>
              <a:t>to setup</a:t>
            </a:r>
          </a:p>
          <a:p xmlns:a="http://schemas.openxmlformats.org/drawingml/2006/main">
            <a:r>
              <a:t>  clear-all</a:t>
            </a:r>
          </a:p>
          <a:p xmlns:a="http://schemas.openxmlformats.org/drawingml/2006/main">
            <a:r>
              <a:t>  ; create turtles on random patches.</a:t>
            </a:r>
          </a:p>
          <a:p xmlns:a="http://schemas.openxmlformats.org/drawingml/2006/main">
            <a:r>
              <a:t>  ask patches [</a:t>
            </a:r>
          </a:p>
          <a:p xmlns:a="http://schemas.openxmlformats.org/drawingml/2006/main">
            <a:r>
              <a:t/>
            </a:r>
          </a:p>
          <a:p xmlns:a="http://schemas.openxmlformats.org/drawingml/2006/main">
            <a:r>
              <a:t>    set pcolor white</a:t>
            </a:r>
          </a:p>
          <a:p xmlns:a="http://schemas.openxmlformats.org/drawingml/2006/main">
            <a:r>
              <a:t>    if random 100 &lt; density [   ; set the occupancy density</a:t>
            </a:r>
          </a:p>
          <a:p xmlns:a="http://schemas.openxmlformats.org/drawingml/2006/main">
            <a:r>
              <a:t>      sprout 1 [</a:t>
            </a:r>
          </a:p>
          <a:p xmlns:a="http://schemas.openxmlformats.org/drawingml/2006/main">
            <a:r>
              <a:t>        ; 105 is the color number for "blue"</a:t>
            </a:r>
          </a:p>
          <a:p xmlns:a="http://schemas.openxmlformats.org/drawingml/2006/main">
            <a:r>
              <a:t>        ; 27 is the color number for "orange"</a:t>
            </a:r>
          </a:p>
          <a:p xmlns:a="http://schemas.openxmlformats.org/drawingml/2006/main">
            <a:r>
              <a:t>        set color one-of [105 27]</a:t>
            </a:r>
          </a:p>
          <a:p xmlns:a="http://schemas.openxmlformats.org/drawingml/2006/main">
            <a:r>
              <a:t>        set size 1</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update-turtles</a:t>
            </a:r>
          </a:p>
          <a:p xmlns:a="http://schemas.openxmlformats.org/drawingml/2006/main">
            <a:r>
              <a:t>  update-globals</a:t>
            </a:r>
          </a:p>
          <a:p xmlns:a="http://schemas.openxmlformats.org/drawingml/2006/main">
            <a:r>
              <a:t>  reset-ticks</a:t>
            </a:r>
          </a:p>
          <a:p xmlns:a="http://schemas.openxmlformats.org/drawingml/2006/main">
            <a:r>
              <a:t>end</a:t>
            </a:r>
          </a:p>
          <a:p xmlns:a="http://schemas.openxmlformats.org/drawingml/2006/main">
            <a:r>
              <a:t/>
            </a:r>
          </a:p>
          <a:p xmlns:a="http://schemas.openxmlformats.org/drawingml/2006/main">
            <a:r>
              <a:t>; run the model for one tick</a:t>
            </a:r>
          </a:p>
          <a:p xmlns:a="http://schemas.openxmlformats.org/drawingml/2006/main">
            <a:r>
              <a:t>to go</a:t>
            </a:r>
          </a:p>
          <a:p xmlns:a="http://schemas.openxmlformats.org/drawingml/2006/main">
            <a:r>
              <a:t>  if all? turtles [ happy? ] [ stop ]</a:t>
            </a:r>
          </a:p>
          <a:p xmlns:a="http://schemas.openxmlformats.org/drawingml/2006/main">
            <a:r>
              <a:t>  move-unhappy-turtles</a:t>
            </a:r>
          </a:p>
          <a:p xmlns:a="http://schemas.openxmlformats.org/drawingml/2006/main">
            <a:r>
              <a:t>  update-turtles</a:t>
            </a:r>
          </a:p>
          <a:p xmlns:a="http://schemas.openxmlformats.org/drawingml/2006/main">
            <a:r>
              <a:t>  update-globals</a:t>
            </a:r>
          </a:p>
          <a:p xmlns:a="http://schemas.openxmlformats.org/drawingml/2006/main">
            <a:r>
              <a:t>  tick</a:t>
            </a:r>
          </a:p>
          <a:p xmlns:a="http://schemas.openxmlformats.org/drawingml/2006/main">
            <a:r>
              <a:t>end</a:t>
            </a:r>
          </a:p>
          <a:p xmlns:a="http://schemas.openxmlformats.org/drawingml/2006/main">
            <a:r>
              <a:t/>
            </a:r>
          </a:p>
          <a:p xmlns:a="http://schemas.openxmlformats.org/drawingml/2006/main">
            <a:r>
              <a:t>; unhappy turtles try a new spot</a:t>
            </a:r>
          </a:p>
          <a:p xmlns:a="http://schemas.openxmlformats.org/drawingml/2006/main">
            <a:r>
              <a:t>to move-unhappy-turtles</a:t>
            </a:r>
          </a:p>
          <a:p xmlns:a="http://schemas.openxmlformats.org/drawingml/2006/main">
            <a:r>
              <a:t>  ask turtles with [ not happy? ]</a:t>
            </a:r>
          </a:p>
          <a:p xmlns:a="http://schemas.openxmlformats.org/drawingml/2006/main">
            <a:r>
              <a:t>    [ find-new-spot ]</a:t>
            </a:r>
          </a:p>
          <a:p xmlns:a="http://schemas.openxmlformats.org/drawingml/2006/main">
            <a:r>
              <a:t>end</a:t>
            </a:r>
          </a:p>
          <a:p xmlns:a="http://schemas.openxmlformats.org/drawingml/2006/main">
            <a:r>
              <a:t/>
            </a:r>
          </a:p>
          <a:p xmlns:a="http://schemas.openxmlformats.org/drawingml/2006/main">
            <a:r>
              <a:t>; move until we find an unoccupied spot</a:t>
            </a:r>
          </a:p>
          <a:p xmlns:a="http://schemas.openxmlformats.org/drawingml/2006/main">
            <a:r>
              <a:t>to find-new-spot</a:t>
            </a:r>
          </a:p>
          <a:p xmlns:a="http://schemas.openxmlformats.org/drawingml/2006/main">
            <a:r>
              <a:t>  rt random-float 360</a:t>
            </a:r>
          </a:p>
          <a:p xmlns:a="http://schemas.openxmlformats.org/drawingml/2006/main">
            <a:r>
              <a:t>  fd random-float 10</a:t>
            </a:r>
          </a:p>
          <a:p xmlns:a="http://schemas.openxmlformats.org/drawingml/2006/main">
            <a:r>
              <a:t>  if any? other turtles-here [ find-new-spot ] ; keep going until we find an unoccupied patch</a:t>
            </a:r>
          </a:p>
          <a:p xmlns:a="http://schemas.openxmlformats.org/drawingml/2006/main">
            <a:r>
              <a:t>  move-to patch-here  ; move to center of patch</a:t>
            </a:r>
          </a:p>
          <a:p xmlns:a="http://schemas.openxmlformats.org/drawingml/2006/main">
            <a:r>
              <a:t>end</a:t>
            </a:r>
          </a:p>
          <a:p xmlns:a="http://schemas.openxmlformats.org/drawingml/2006/main">
            <a:r>
              <a:t/>
            </a:r>
          </a:p>
          <a:p xmlns:a="http://schemas.openxmlformats.org/drawingml/2006/main">
            <a:r>
              <a:t>to update-turtles</a:t>
            </a:r>
          </a:p>
          <a:p xmlns:a="http://schemas.openxmlformats.org/drawingml/2006/main">
            <a:r>
              <a:t>  ask turtles [</a:t>
            </a:r>
          </a:p>
          <a:p xmlns:a="http://schemas.openxmlformats.org/drawingml/2006/main">
            <a:r>
              <a:t>    ; in next two lines, we use "neighbors" to test the eight patches</a:t>
            </a:r>
          </a:p>
          <a:p xmlns:a="http://schemas.openxmlformats.org/drawingml/2006/main">
            <a:r>
              <a:t>    ; surrounding the current patch</a:t>
            </a:r>
          </a:p>
          <a:p xmlns:a="http://schemas.openxmlformats.org/drawingml/2006/main">
            <a:r>
              <a:t>    set similar-nearby count (turtles-on neighbors)  with [ color = [ color ] of myself ]</a:t>
            </a:r>
          </a:p>
          <a:p xmlns:a="http://schemas.openxmlformats.org/drawingml/2006/main">
            <a:r>
              <a:t>    set other-nearby count (turtles-on neighbors) with [ color != [ color ] of myself ]</a:t>
            </a:r>
          </a:p>
          <a:p xmlns:a="http://schemas.openxmlformats.org/drawingml/2006/main">
            <a:r>
              <a:t>    set total-nearby similar-nearby + other-nearby</a:t>
            </a:r>
          </a:p>
          <a:p xmlns:a="http://schemas.openxmlformats.org/drawingml/2006/main">
            <a:r>
              <a:t>    set happy? similar-nearby &gt;= (%-similar-wanted * total-nearby / 100)</a:t>
            </a:r>
          </a:p>
          <a:p xmlns:a="http://schemas.openxmlformats.org/drawingml/2006/main">
            <a:r>
              <a:t>    ; add visualization here</a:t>
            </a:r>
          </a:p>
          <a:p xmlns:a="http://schemas.openxmlformats.org/drawingml/2006/main">
            <a:r>
              <a:t>    if visualization = "old" [ set shape "default" set size 1.3 ]</a:t>
            </a:r>
          </a:p>
          <a:p xmlns:a="http://schemas.openxmlformats.org/drawingml/2006/main">
            <a:r>
              <a:t>    if visualization = "square-x" [</a:t>
            </a:r>
          </a:p>
          <a:p xmlns:a="http://schemas.openxmlformats.org/drawingml/2006/main">
            <a:r>
              <a:t>      ifelse happy? [ set shape "square" ] [ set shape "X" ]</a:t>
            </a:r>
          </a:p>
          <a:p xmlns:a="http://schemas.openxmlformats.org/drawingml/2006/main">
            <a:r>
              <a:t>    ]</a:t>
            </a:r>
          </a:p>
          <a:p xmlns:a="http://schemas.openxmlformats.org/drawingml/2006/main">
            <a:r>
              <a:t>  ]</a:t>
            </a:r>
          </a:p>
          <a:p xmlns:a="http://schemas.openxmlformats.org/drawingml/2006/main">
            <a:r>
              <a:t>end</a:t>
            </a:r>
          </a:p>
          <a:p xmlns:a="http://schemas.openxmlformats.org/drawingml/2006/main">
            <a:r>
              <a:t/>
            </a:r>
          </a:p>
          <a:p xmlns:a="http://schemas.openxmlformats.org/drawingml/2006/main">
            <a:r>
              <a:t>to update-globals</a:t>
            </a:r>
          </a:p>
          <a:p xmlns:a="http://schemas.openxmlformats.org/drawingml/2006/main">
            <a:r>
              <a:t>  let similar-neighbors sum [ similar-nearby ] of turtles</a:t>
            </a:r>
          </a:p>
          <a:p xmlns:a="http://schemas.openxmlformats.org/drawingml/2006/main">
            <a:r>
              <a:t>  let total-neighbors sum [ total-nearby ] of turtles</a:t>
            </a:r>
          </a:p>
          <a:p xmlns:a="http://schemas.openxmlformats.org/drawingml/2006/main">
            <a:r>
              <a:t>  set percent-similar (similar-neighbors / total-neighbors) * 100</a:t>
            </a:r>
          </a:p>
          <a:p xmlns:a="http://schemas.openxmlformats.org/drawingml/2006/main">
            <a:r>
              <a:t>  set percent-unhappy (count turtles with [ not happy? ]) / (count turtles) * 100</a:t>
            </a:r>
          </a:p>
          <a:p xmlns:a="http://schemas.openxmlformats.org/drawingml/2006/main">
            <a:r>
              <a:t>end</a:t>
            </a:r>
          </a:p>
          <a:p xmlns:a="http://schemas.openxmlformats.org/drawingml/2006/main">
            <a:r>
              <a:t/>
            </a:r>
          </a:p>
          <a:p xmlns:a="http://schemas.openxmlformats.org/drawingml/2006/main">
            <a:r>
              <a:t/>
            </a:r>
          </a:p>
          <a:p xmlns:a="http://schemas.openxmlformats.org/drawingml/2006/main">
            <a:r>
              <a:t>; Copyright 1997 Uri Wilensky.</a:t>
            </a:r>
          </a:p>
          <a:p xmlns:a="http://schemas.openxmlformats.org/drawingml/2006/main">
            <a:r>
              <a:t>; See Info tab for full copyright and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2eb0fca7ec425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bc3616ed22241a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e13406755241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749200e6ae406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f74b4b439384eb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4e1d1fc5db45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3441AC-A22C-47BC-BF6D-CAFB34449768}"/>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EB5BB3-231C-4BC6-91C7-B0EE68423876}"/>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A9EC438-7B4F-4FC4-973C-8129EE212D33}"/>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4A2F80-3368-4867-8F21-A042828E2274}"/>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CD00A74-CE7A-4D99-B711-13BE5B9D9E9F}"/>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A1F1C7A-085C-4A2A-933C-278FE9DE57FD}"/>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3159C2-3337-42CA-B4B3-EBB0C0951BF8}"/>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DBD1D8D-13B6-4811-ABC5-81400F60E3BA}"/>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878BEA-A529-4183-A6DF-6680CFF56AF4}"/>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621DF1-DA9A-42D7-9408-54A45B85D258}"/>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990d744c0d4fe4" /><Relationship Type="http://schemas.openxmlformats.org/officeDocument/2006/relationships/slideLayout" Target="/ppt/slideLayouts/slideLayout1.xml" Id="R4261be617a494d11" /><Relationship Type="http://schemas.openxmlformats.org/officeDocument/2006/relationships/slideLayout" Target="/ppt/slideLayouts/slideLayout2.xml" Id="Rd54f9dc039774de1" /><Relationship Type="http://schemas.openxmlformats.org/officeDocument/2006/relationships/slideLayout" Target="/ppt/slideLayouts/slideLayout3.xml" Id="Rda97dd89ff7b4179" /><Relationship Type="http://schemas.openxmlformats.org/officeDocument/2006/relationships/slideLayout" Target="/ppt/slideLayouts/slideLayout4.xml" Id="Rcb8b7321ad6846de" /><Relationship Type="http://schemas.openxmlformats.org/officeDocument/2006/relationships/slideLayout" Target="/ppt/slideLayouts/slideLayout5.xml" Id="R49eeff7b821c483f" /><Relationship Type="http://schemas.openxmlformats.org/officeDocument/2006/relationships/slideLayout" Target="/ppt/slideLayouts/slideLayout6.xml" Id="R4a9b75bb45f148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61be617a494d11"/>
    <p:sldLayoutId xmlns:r="http://schemas.openxmlformats.org/officeDocument/2006/relationships" id="2147483650" r:id="Rd54f9dc039774de1"/>
    <p:sldLayoutId xmlns:r="http://schemas.openxmlformats.org/officeDocument/2006/relationships" id="2147483651" r:id="Rda97dd89ff7b4179"/>
    <p:sldLayoutId xmlns:r="http://schemas.openxmlformats.org/officeDocument/2006/relationships" id="2147483652" r:id="Rcb8b7321ad6846de"/>
    <p:sldLayoutId xmlns:r="http://schemas.openxmlformats.org/officeDocument/2006/relationships" id="2147483653" r:id="R49eeff7b821c483f"/>
    <p:sldLayoutId xmlns:r="http://schemas.openxmlformats.org/officeDocument/2006/relationships" id="2147483654" r:id="R4a9b75bb45f148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383b8a1a83441a3" /><Relationship Type="http://schemas.openxmlformats.org/officeDocument/2006/relationships/notesSlide" Target="/ppt/notesSlides/notesSlide1.xml" Id="R46a1b64fd15c47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5d39f20aadb40c1" /><Relationship Type="http://schemas.openxmlformats.org/officeDocument/2006/relationships/notesSlide" Target="/ppt/notesSlides/notesSlide2.xml" Id="Red60f45b335f47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00950a5520c48e2" /><Relationship Type="http://schemas.openxmlformats.org/officeDocument/2006/relationships/notesSlide" Target="/ppt/notesSlides/notesSlide3.xml" Id="R0742d04d507f4f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a52c4e904cc446b" /><Relationship Type="http://schemas.openxmlformats.org/officeDocument/2006/relationships/notesSlide" Target="/ppt/notesSlides/notesSlide4.xml" Id="Reab40b08c59745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4886f9c3bfb45f7" /><Relationship Type="http://schemas.openxmlformats.org/officeDocument/2006/relationships/notesSlide" Target="/ppt/notesSlides/notesSlide5.xml" Id="Rf492fd17ce0b49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cefb62abc244439" /><Relationship Type="http://schemas.openxmlformats.org/officeDocument/2006/relationships/notesSlide" Target="/ppt/notesSlides/notesSlide6.xml" Id="R6a684e22ef3e4f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526f39084e74a2f" /><Relationship Type="http://schemas.openxmlformats.org/officeDocument/2006/relationships/notesSlide" Target="/ppt/notesSlides/notesSlide7.xml" Id="R34c9c8e1d28049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a69b90c5f714f5a" /><Relationship Type="http://schemas.openxmlformats.org/officeDocument/2006/relationships/notesSlide" Target="/ppt/notesSlides/notesSlide8.xml" Id="Rb1a559c304fc41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ba383c009c84c2f" /><Relationship Type="http://schemas.openxmlformats.org/officeDocument/2006/relationships/notesSlide" Target="/ppt/notesSlides/notesSlide9.xml" Id="R38ae2fb0578c49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7fc8213fea94851" /><Relationship Type="http://schemas.openxmlformats.org/officeDocument/2006/relationships/notesSlide" Target="/ppt/notesSlides/notesSlide10.xml" Id="Re712fa87e41044e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9991a88c8f446bd" /><Relationship Type="http://schemas.openxmlformats.org/officeDocument/2006/relationships/notesSlide" Target="/ppt/notesSlides/notesSlide11.xml" Id="Rc48a65441e4042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bdf062e18de43a9" /><Relationship Type="http://schemas.openxmlformats.org/officeDocument/2006/relationships/notesSlide" Target="/ppt/notesSlides/notesSlide12.xml" Id="Raa034100a9f24d0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9577aa8ff6b4db4" /><Relationship Type="http://schemas.openxmlformats.org/officeDocument/2006/relationships/notesSlide" Target="/ppt/notesSlides/notesSlide13.xml" Id="R32a690202c7843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f95d0ec33234330" /><Relationship Type="http://schemas.openxmlformats.org/officeDocument/2006/relationships/notesSlide" Target="/ppt/notesSlides/notesSlide14.xml" Id="R9cd1310f8891452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1e9b009c4094fa8" /><Relationship Type="http://schemas.openxmlformats.org/officeDocument/2006/relationships/notesSlide" Target="/ppt/notesSlides/notesSlide15.xml" Id="R87b0004b6e76470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c08fde2a15246e1" /><Relationship Type="http://schemas.openxmlformats.org/officeDocument/2006/relationships/notesSlide" Target="/ppt/notesSlides/notesSlide16.xml" Id="Raf4e7e6f30c44d0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6c1b4efb1ad4014" /><Relationship Type="http://schemas.openxmlformats.org/officeDocument/2006/relationships/notesSlide" Target="/ppt/notesSlides/notesSlide17.xml" Id="R13ff8ff46bb74e7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c7f1939bcdc4656" /><Relationship Type="http://schemas.openxmlformats.org/officeDocument/2006/relationships/notesSlide" Target="/ppt/notesSlides/notesSlide18.xml" Id="R8809110f8c9741c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d2c674ca6fd47e9" /><Relationship Type="http://schemas.openxmlformats.org/officeDocument/2006/relationships/notesSlide" Target="/ppt/notesSlides/notesSlide19.xml" Id="R4a6f2cf77a1b45e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df07ddecef24fb1" /><Relationship Type="http://schemas.openxmlformats.org/officeDocument/2006/relationships/notesSlide" Target="/ppt/notesSlides/notesSlide20.xml" Id="Rb5f0147bdd2a42f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132b2a63aa3414f" /><Relationship Type="http://schemas.openxmlformats.org/officeDocument/2006/relationships/notesSlide" Target="/ppt/notesSlides/notesSlide21.xml" Id="R9347dba07d64409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73d4aada1ad4a89" /><Relationship Type="http://schemas.openxmlformats.org/officeDocument/2006/relationships/notesSlide" Target="/ppt/notesSlides/notesSlide22.xml" Id="R0995da75fc01470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8c16980e4d44220" /><Relationship Type="http://schemas.openxmlformats.org/officeDocument/2006/relationships/notesSlide" Target="/ppt/notesSlides/notesSlide23.xml" Id="R439b6337641943c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af936e8f522425c" /><Relationship Type="http://schemas.openxmlformats.org/officeDocument/2006/relationships/notesSlide" Target="/ppt/notesSlides/notesSlide24.xml" Id="Rf43ee2a20b43447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26e52836dcb42d5" /><Relationship Type="http://schemas.openxmlformats.org/officeDocument/2006/relationships/notesSlide" Target="/ppt/notesSlides/notesSlide25.xml" Id="Rbb076b8a88a4431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2a081127f33467a" /><Relationship Type="http://schemas.openxmlformats.org/officeDocument/2006/relationships/notesSlide" Target="/ppt/notesSlides/notesSlide26.xml" Id="Rdff19ba7e1554da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d320b8c7aab4666" /><Relationship Type="http://schemas.openxmlformats.org/officeDocument/2006/relationships/notesSlide" Target="/ppt/notesSlides/notesSlide27.xml" Id="Rd3ff1cfa68d5447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c0159378d994f0e" /><Relationship Type="http://schemas.openxmlformats.org/officeDocument/2006/relationships/notesSlide" Target="/ppt/notesSlides/notesSlide28.xml" Id="R335812380b4c4ff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e7b06051562469c" /><Relationship Type="http://schemas.openxmlformats.org/officeDocument/2006/relationships/notesSlide" Target="/ppt/notesSlides/notesSlide29.xml" Id="Rda626d21155640f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c2879e92f634530" /><Relationship Type="http://schemas.openxmlformats.org/officeDocument/2006/relationships/notesSlide" Target="/ppt/notesSlides/notesSlide30.xml" Id="R306cb296ade44ab5"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0F1F13-FC45-4F29-9DA1-2BC544ED4183}"/>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1">
                <a:solidFill>
                  <a:srgbClr val="FFFFFF"/>
                </a:solidFill>
                <a:latin typeface="Arial"/>
                <a:ea typeface="Arial"/>
                <a:cs typeface="Arial"/>
              </a:defRPr>
            </a:defPPr>
          </a:lstStyle>
          <a:p xmlns:a="http://schemas.openxmlformats.org/drawingml/2006/main">
            <a:pPr>
              <a:defRPr sz="1050" b="1">
                <a:solidFill>
                  <a:srgbClr val="FFFFFF"/>
                </a:solidFill>
                <a:latin typeface="Arial"/>
                <a:ea typeface="Arial"/>
                <a:cs typeface="Arial"/>
              </a:defRPr>
            </a:pPr>
            <a:r>
              <a:rPr sz="1050" b="1">
                <a:solidFill>
                  <a:srgbClr val="FFFFFF"/>
                </a:solidFill>
                <a:latin typeface="Arial"/>
                <a:ea typeface="Arial"/>
                <a:cs typeface="Arial"/>
              </a:rPr>
              <a:t>Session 6</a:t>
            </a:r>
          </a:p>
        </p:txBody>
      </p:sp>
      <p:sp>
        <p:nvSpPr>
          <p:cNvPr id="2" name="">
            <a:extLst xmlns:a="http://schemas.openxmlformats.org/drawingml/2006/main">
              <a:ext uri="{FF2B5EF4-FFF2-40B4-BE49-F238E27FC236}">
                <a16:creationId xmlns:a16="http://schemas.microsoft.com/office/drawing/2014/main" id="{2668F8FD-B536-401A-94C5-ECFA1033D4B3}"/>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FFFFFF"/>
                </a:solidFill>
                <a:latin typeface="Arial"/>
                <a:ea typeface="Arial"/>
                <a:cs typeface="Arial"/>
              </a:defRPr>
            </a:defPPr>
          </a:lstStyle>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Reverse engineering</a:t>
            </a:r>
          </a:p>
        </p:txBody>
      </p:sp>
      <p:sp>
        <p:nvSpPr>
          <p:cNvPr id="3" name="">
            <a:extLst xmlns:a="http://schemas.openxmlformats.org/drawingml/2006/main">
              <a:ext uri="{FF2B5EF4-FFF2-40B4-BE49-F238E27FC236}">
                <a16:creationId xmlns:a16="http://schemas.microsoft.com/office/drawing/2014/main" id="{1F989770-CDE1-4852-9EA1-1843F9A45B59}"/>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FFFFFF"/>
                </a:solidFill>
                <a:latin typeface="Arial"/>
                <a:ea typeface="Arial"/>
                <a:cs typeface="Arial"/>
              </a:defRPr>
            </a:defPPr>
          </a:lstStyle>
          <a:p xmlns:a="http://schemas.openxmlformats.org/drawingml/2006/main">
            <a:pPr>
              <a:defRPr sz="1050" b="0">
                <a:solidFill>
                  <a:srgbClr val="FFFFFF"/>
                </a:solidFill>
                <a:latin typeface="Arial"/>
                <a:ea typeface="Arial"/>
                <a:cs typeface="Arial"/>
              </a:defRPr>
            </a:pPr>
            <a:r>
              <a:rPr sz="1050" b="0">
                <a:solidFill>
                  <a:srgbClr val="FFFFFF"/>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39F11078-63B1-4A9A-8A0E-91CB449244FD}"/>
              </a:ext>
            </a:extLst>
          </p:cNvPr>
          <p:cNvSpPr>
            <a:spLocks xmlns:a="http://schemas.openxmlformats.org/drawingml/2006/main" noGrp="1"/>
          </p:cNvSpPr>
          <p:nvPr/>
        </p:nvSpPr>
        <p:spPr>
          <a:xfrm xmlns:a="http://schemas.openxmlformats.org/drawingml/2006/main">
            <a:off x="476250" y="1485900"/>
            <a:ext cx="8191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0">
                <a:solidFill>
                  <a:srgbClr val="FFFFFF"/>
                </a:solidFill>
                <a:latin typeface="Old Standard TT"/>
                <a:ea typeface="Old Standard TT"/>
                <a:cs typeface="Old Standard TT"/>
              </a:defRPr>
            </a:defPPr>
          </a:lstStyle>
          <a:p xmlns:a="http://schemas.openxmlformats.org/drawingml/2006/main">
            <a:pPr>
              <a:defRPr sz="3225" b="0">
                <a:solidFill>
                  <a:srgbClr val="FFFFFF"/>
                </a:solidFill>
                <a:latin typeface="Old Standard TT"/>
                <a:ea typeface="Old Standard TT"/>
                <a:cs typeface="Old Standard TT"/>
              </a:defRPr>
            </a:pPr>
            <a:r>
              <a:rPr sz="3225" b="0">
                <a:solidFill>
                  <a:srgbClr val="FFFFFF"/>
                </a:solidFill>
                <a:latin typeface="Old Standard TT"/>
                <a:ea typeface="Old Standard TT"/>
                <a:cs typeface="Old Standard TT"/>
              </a:rPr>
              <a:t>Schelling’s segregation model</a:t>
            </a:r>
          </a:p>
        </p:txBody>
      </p:sp>
      <p:sp>
        <p:nvSpPr>
          <p:cNvPr id="5" name="">
            <a:extLst xmlns:a="http://schemas.openxmlformats.org/drawingml/2006/main">
              <a:ext uri="{FF2B5EF4-FFF2-40B4-BE49-F238E27FC236}">
                <a16:creationId xmlns:a16="http://schemas.microsoft.com/office/drawing/2014/main" id="{29AA2A60-36CE-4C49-B50F-7FE34032D2ED}"/>
              </a:ext>
            </a:extLst>
          </p:cNvPr>
          <p:cNvSpPr>
            <a:spLocks xmlns:a="http://schemas.openxmlformats.org/drawingml/2006/main" noGrp="1"/>
          </p:cNvSpPr>
          <p:nvPr/>
        </p:nvSpPr>
        <p:spPr>
          <a:xfrm xmlns:a="http://schemas.openxmlformats.org/drawingml/2006/main">
            <a:off x="476250" y="2447925"/>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FFFFFF"/>
                </a:solidFill>
                <a:latin typeface="Old Standard TT"/>
                <a:ea typeface="Old Standard TT"/>
                <a:cs typeface="Old Standard TT"/>
              </a:defRPr>
            </a:defPPr>
          </a:lstStyle>
          <a:p xmlns:a="http://schemas.openxmlformats.org/drawingml/2006/main">
            <a:pPr>
              <a:defRPr sz="2550" b="0">
                <a:solidFill>
                  <a:srgbClr val="FFFFFF"/>
                </a:solidFill>
                <a:latin typeface="Old Standard TT"/>
                <a:ea typeface="Old Standard TT"/>
                <a:cs typeface="Old Standard TT"/>
              </a:defRPr>
            </a:pPr>
            <a:r>
              <a:rPr sz="2550" b="0">
                <a:solidFill>
                  <a:srgbClr val="FFFFFF"/>
                </a:solidFill>
                <a:latin typeface="Old Standard TT"/>
                <a:ea typeface="Old Standard TT"/>
                <a:cs typeface="Old Standard TT"/>
              </a:rPr>
              <a:t>Reverse engineering</a:t>
            </a:r>
          </a:p>
        </p:txBody>
      </p:sp>
      <p:sp>
        <p:nvSpPr>
          <p:cNvPr id="6" name="">
            <a:extLst xmlns:a="http://schemas.openxmlformats.org/drawingml/2006/main">
              <a:ext uri="{FF2B5EF4-FFF2-40B4-BE49-F238E27FC236}">
                <a16:creationId xmlns:a16="http://schemas.microsoft.com/office/drawing/2014/main" id="{87618D24-58CB-49D2-A135-65E81778E539}"/>
              </a:ext>
            </a:extLst>
          </p:cNvPr>
          <p:cNvSpPr>
            <a:spLocks xmlns:a="http://schemas.openxmlformats.org/drawingml/2006/main" noGrp="1"/>
          </p:cNvSpPr>
          <p:nvPr/>
        </p:nvSpPr>
        <p:spPr>
          <a:xfrm xmlns:a="http://schemas.openxmlformats.org/drawingml/2006/main">
            <a:off x="476250" y="3200400"/>
            <a:ext cx="819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From a running model to its specification and design</a:t>
            </a:r>
          </a:p>
        </p:txBody>
      </p:sp>
    </p:spTree>
    <p:extLst>
      <p:ext uri="{BB962C8B-B14F-4D97-AF65-F5344CB8AC3E}">
        <p14:creationId xmlns:p14="http://schemas.microsoft.com/office/powerpoint/2010/main" val="476136400"/>
      </p:ext>
    </p:extLst>
  </p:cSld>
</p:sld>
</file>

<file path=ppt/slides/slide2.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AA25F2-BBCB-4D6B-BAAB-D0C118205058}"/>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Why segregation matters</a:t>
            </a:r>
          </a:p>
        </p:txBody>
      </p:sp>
      <p:sp>
        <p:nvSpPr>
          <p:cNvPr id="2" name="">
            <a:extLst xmlns:a="http://schemas.openxmlformats.org/drawingml/2006/main">
              <a:ext uri="{FF2B5EF4-FFF2-40B4-BE49-F238E27FC236}">
                <a16:creationId xmlns:a16="http://schemas.microsoft.com/office/drawing/2014/main" id="{AD9947B3-D83B-4ED9-B95D-224787AE3DB4}"/>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Policy context</a:t>
            </a:r>
          </a:p>
        </p:txBody>
      </p:sp>
      <p:sp>
        <p:nvSpPr>
          <p:cNvPr id="3" name="">
            <a:extLst xmlns:a="http://schemas.openxmlformats.org/drawingml/2006/main">
              <a:ext uri="{FF2B5EF4-FFF2-40B4-BE49-F238E27FC236}">
                <a16:creationId xmlns:a16="http://schemas.microsoft.com/office/drawing/2014/main" id="{6C4C7B05-F899-4E2A-86F9-D1839EAD8205}"/>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C6BAC6E1-AD1F-4352-8330-EF178CF4ECCC}"/>
              </a:ext>
            </a:extLst>
          </p:cNvPr>
          <p:cNvSpPr>
            <a:spLocks xmlns:a="http://schemas.openxmlformats.org/drawingml/2006/main" noGrp="1"/>
          </p:cNvSpPr>
          <p:nvPr/>
        </p:nvSpPr>
        <p:spPr>
          <a:xfrm xmlns:a="http://schemas.openxmlformats.org/drawingml/2006/main">
            <a:off x="381000" y="1095375"/>
            <a:ext cx="8286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11111"/>
                </a:solidFill>
                <a:latin typeface="Arial"/>
                <a:ea typeface="Arial"/>
                <a:cs typeface="Arial"/>
              </a:defRPr>
            </a:defPPr>
          </a:lstStyle>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Residential segregation means groups concentrate</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in different parts of a city.</a:t>
            </a:r>
          </a:p>
          <a:p xmlns:a="http://schemas.openxmlformats.org/drawingml/2006/main">
            <a:r>
              <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Where people live can affect access to jobs and services.</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Spatial separation can reinforce existing disadvantages.</a:t>
            </a:r>
          </a:p>
          <a:p xmlns:a="http://schemas.openxmlformats.org/drawingml/2006/main">
            <a:r>
              <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Housing, transport and public services interact.</a:t>
            </a:r>
          </a:p>
        </p:txBody>
      </p:sp>
      <p:sp>
        <p:nvSpPr>
          <p:cNvPr id="5" name="">
            <a:extLst xmlns:a="http://schemas.openxmlformats.org/drawingml/2006/main">
              <a:ext uri="{FF2B5EF4-FFF2-40B4-BE49-F238E27FC236}">
                <a16:creationId xmlns:a16="http://schemas.microsoft.com/office/drawing/2014/main" id="{25B6CE19-906B-4BDC-B83A-CB68ADE4AB6D}"/>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Who can reach which opportunities, and at what cost?</a:t>
            </a:r>
          </a:p>
        </p:txBody>
      </p:sp>
    </p:spTree>
    <p:extLst>
      <p:ext uri="{BB962C8B-B14F-4D97-AF65-F5344CB8AC3E}">
        <p14:creationId xmlns:p14="http://schemas.microsoft.com/office/powerpoint/2010/main" val="2065403867"/>
      </p:ext>
    </p:extLst>
  </p:cSld>
</p:sld>
</file>

<file path=ppt/slides/slide3.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E83DEA-582B-45EF-A94D-EF336D47CB02}"/>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Schelling’s point</a:t>
            </a:r>
          </a:p>
        </p:txBody>
      </p:sp>
      <p:sp>
        <p:nvSpPr>
          <p:cNvPr id="2" name="">
            <a:extLst xmlns:a="http://schemas.openxmlformats.org/drawingml/2006/main">
              <a:ext uri="{FF2B5EF4-FFF2-40B4-BE49-F238E27FC236}">
                <a16:creationId xmlns:a16="http://schemas.microsoft.com/office/drawing/2014/main" id="{A81E73B9-4398-4F10-98EF-AF67182C8BF6}"/>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Reading + teaching interpretation</a:t>
            </a:r>
          </a:p>
        </p:txBody>
      </p:sp>
      <p:sp>
        <p:nvSpPr>
          <p:cNvPr id="3" name="">
            <a:extLst xmlns:a="http://schemas.openxmlformats.org/drawingml/2006/main">
              <a:ext uri="{FF2B5EF4-FFF2-40B4-BE49-F238E27FC236}">
                <a16:creationId xmlns:a16="http://schemas.microsoft.com/office/drawing/2014/main" id="{633C02BB-8A45-4F8A-A0AE-BD5D6345202C}"/>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91A2DC2C-615B-444A-BC3D-4D137E2753EE}"/>
              </a:ext>
            </a:extLst>
          </p:cNvPr>
          <p:cNvSpPr>
            <a:spLocks xmlns:a="http://schemas.openxmlformats.org/drawingml/2006/main" noGrp="1"/>
          </p:cNvSpPr>
          <p:nvPr/>
        </p:nvSpPr>
        <p:spPr>
          <a:xfrm xmlns:a="http://schemas.openxmlformats.org/drawingml/2006/main">
            <a:off x="381000" y="1057275"/>
            <a:ext cx="82867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11111"/>
                </a:solidFill>
                <a:latin typeface="Arial"/>
                <a:ea typeface="Arial"/>
                <a:cs typeface="Arial"/>
              </a:defRPr>
            </a:defPPr>
          </a:lstStyle>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People may accept mixed neighbourhoods while wanting</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a minimum share of neighbours from their own group.</a:t>
            </a:r>
          </a:p>
          <a:p xmlns:a="http://schemas.openxmlformats.org/drawingml/2006/main">
            <a:r>
              <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Their moves change other people’s neighbourhoods.</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Those people may then move too.</a:t>
            </a:r>
          </a:p>
          <a:p xmlns:a="http://schemas.openxmlformats.org/drawingml/2006/main">
            <a:r>
              <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The collective pattern can become more segregated</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than individuals intended.</a:t>
            </a:r>
          </a:p>
        </p:txBody>
      </p:sp>
      <p:sp>
        <p:nvSpPr>
          <p:cNvPr id="5" name="">
            <a:extLst xmlns:a="http://schemas.openxmlformats.org/drawingml/2006/main">
              <a:ext uri="{FF2B5EF4-FFF2-40B4-BE49-F238E27FC236}">
                <a16:creationId xmlns:a16="http://schemas.microsoft.com/office/drawing/2014/main" id="{2CD4BABF-72B3-441B-A9D3-79E388EF4A5A}"/>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A segregated outcome alone does not reveal everyone’s motives.</a:t>
            </a:r>
          </a:p>
        </p:txBody>
      </p:sp>
    </p:spTree>
    <p:extLst>
      <p:ext uri="{BB962C8B-B14F-4D97-AF65-F5344CB8AC3E}">
        <p14:creationId xmlns:p14="http://schemas.microsoft.com/office/powerpoint/2010/main" val="1313218129"/>
      </p:ext>
    </p:extLst>
  </p:cSld>
</p:sld>
</file>

<file path=ppt/slides/slide4.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4BB246-11CA-4717-B234-A60064E3ECAE}"/>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Policy usefulness</a:t>
            </a:r>
          </a:p>
        </p:txBody>
      </p:sp>
      <p:sp>
        <p:nvSpPr>
          <p:cNvPr id="2" name="">
            <a:extLst xmlns:a="http://schemas.openxmlformats.org/drawingml/2006/main">
              <a:ext uri="{FF2B5EF4-FFF2-40B4-BE49-F238E27FC236}">
                <a16:creationId xmlns:a16="http://schemas.microsoft.com/office/drawing/2014/main" id="{D1B6C2E6-45AC-443E-912C-3939308F0CD1}"/>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Teaching interpretation</a:t>
            </a:r>
          </a:p>
        </p:txBody>
      </p:sp>
      <p:sp>
        <p:nvSpPr>
          <p:cNvPr id="3" name="">
            <a:extLst xmlns:a="http://schemas.openxmlformats.org/drawingml/2006/main">
              <a:ext uri="{FF2B5EF4-FFF2-40B4-BE49-F238E27FC236}">
                <a16:creationId xmlns:a16="http://schemas.microsoft.com/office/drawing/2014/main" id="{A13AB455-A90E-4410-B636-B76E41BF49CD}"/>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4825E3E3-FDE5-4A8B-8FD7-C837B3426753}"/>
              </a:ext>
            </a:extLst>
          </p:cNvPr>
          <p:cNvSpPr>
            <a:spLocks xmlns:a="http://schemas.openxmlformats.org/drawingml/2006/main" noGrp="1"/>
          </p:cNvSpPr>
          <p:nvPr/>
        </p:nvSpPr>
        <p:spPr>
          <a:xfrm xmlns:a="http://schemas.openxmlformats.org/drawingml/2006/main">
            <a:off x="381000" y="1114425"/>
            <a:ext cx="82867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11111"/>
                </a:solidFill>
                <a:latin typeface="Arial"/>
                <a:ea typeface="Arial"/>
                <a:cs typeface="Arial"/>
              </a:defRPr>
            </a:defPPr>
          </a:lstStyle>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A policy changes people’s choices and constraints.</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People respond, changing the conditions faced by others.</a:t>
            </a:r>
          </a:p>
          <a:p xmlns:a="http://schemas.openxmlformats.org/drawingml/2006/main">
            <a:r>
              <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Could those responses amplify or offset an intervention?</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Could a mixed starting pattern become segregated again?</a:t>
            </a:r>
          </a:p>
          <a:p xmlns:a="http://schemas.openxmlformats.org/drawingml/2006/main">
            <a:r>
              <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Individual satisfaction and collective mixing</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may lead us to different evaluations.</a:t>
            </a:r>
          </a:p>
        </p:txBody>
      </p:sp>
      <p:sp>
        <p:nvSpPr>
          <p:cNvPr id="5" name="">
            <a:extLst xmlns:a="http://schemas.openxmlformats.org/drawingml/2006/main">
              <a:ext uri="{FF2B5EF4-FFF2-40B4-BE49-F238E27FC236}">
                <a16:creationId xmlns:a16="http://schemas.microsoft.com/office/drawing/2014/main" id="{5A326A10-31A1-40FA-9C1E-4E638E0055BB}"/>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The model helps us ask questions about feedback.</a:t>
            </a:r>
          </a:p>
        </p:txBody>
      </p:sp>
    </p:spTree>
    <p:extLst>
      <p:ext uri="{BB962C8B-B14F-4D97-AF65-F5344CB8AC3E}">
        <p14:creationId xmlns:p14="http://schemas.microsoft.com/office/powerpoint/2010/main" val="599129133"/>
      </p:ext>
    </p:extLst>
  </p:cSld>
</p:sld>
</file>

<file path=ppt/slides/slide5.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2C96E1-074F-4454-8568-58D66CC8E5B7}"/>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Exploration before inspection</a:t>
            </a:r>
          </a:p>
        </p:txBody>
      </p:sp>
      <p:sp>
        <p:nvSpPr>
          <p:cNvPr id="2" name="">
            <a:extLst xmlns:a="http://schemas.openxmlformats.org/drawingml/2006/main">
              <a:ext uri="{FF2B5EF4-FFF2-40B4-BE49-F238E27FC236}">
                <a16:creationId xmlns:a16="http://schemas.microsoft.com/office/drawing/2014/main" id="{67C08686-AF64-42A1-84F6-E82195BC198B}"/>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Classroom activity</a:t>
            </a:r>
          </a:p>
        </p:txBody>
      </p:sp>
      <p:sp>
        <p:nvSpPr>
          <p:cNvPr id="3" name="">
            <a:extLst xmlns:a="http://schemas.openxmlformats.org/drawingml/2006/main">
              <a:ext uri="{FF2B5EF4-FFF2-40B4-BE49-F238E27FC236}">
                <a16:creationId xmlns:a16="http://schemas.microsoft.com/office/drawing/2014/main" id="{5AC47752-4847-43E6-8359-32F8F0ADAEBD}"/>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F6A064EE-442D-4E8F-9D3C-0CFEB66BA579}"/>
              </a:ext>
            </a:extLst>
          </p:cNvPr>
          <p:cNvSpPr>
            <a:spLocks xmlns:a="http://schemas.openxmlformats.org/drawingml/2006/main" noGrp="1"/>
          </p:cNvSpPr>
          <p:nvPr/>
        </p:nvSpPr>
        <p:spPr>
          <a:xfrm xmlns:a="http://schemas.openxmlformats.org/drawingml/2006/main">
            <a:off x="381000" y="1257300"/>
            <a:ext cx="3952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STARTING SETTINGS</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density = 95</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%-similar-wanted = 30</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visualization = "square-x"</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Run setup, then go once.</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Then use the continuous go button.</a:t>
            </a:r>
          </a:p>
        </p:txBody>
      </p:sp>
      <p:sp>
        <p:nvSpPr>
          <p:cNvPr id="5" name="">
            <a:extLst xmlns:a="http://schemas.openxmlformats.org/drawingml/2006/main">
              <a:ext uri="{FF2B5EF4-FFF2-40B4-BE49-F238E27FC236}">
                <a16:creationId xmlns:a16="http://schemas.microsoft.com/office/drawing/2014/main" id="{FF4E5CC2-7257-408C-B6EF-8789DFF07A52}"/>
              </a:ext>
            </a:extLst>
          </p:cNvPr>
          <p:cNvSpPr>
            <a:spLocks xmlns:a="http://schemas.openxmlformats.org/drawingml/2006/main" noGrp="1"/>
          </p:cNvSpPr>
          <p:nvPr/>
        </p:nvSpPr>
        <p:spPr>
          <a:xfrm xmlns:a="http://schemas.openxmlformats.org/drawingml/2006/main">
            <a:off x="4857750" y="1257300"/>
            <a:ext cx="39052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OBSERVATIONS</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Which individuals move?</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Where do clusters appear?</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What happens to the Xs?</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Compare the map with</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 similar and % unhappy.</a:t>
            </a:r>
          </a:p>
        </p:txBody>
      </p:sp>
      <p:sp>
        <p:nvSpPr>
          <p:cNvPr id="6" name="">
            <a:extLst xmlns:a="http://schemas.openxmlformats.org/drawingml/2006/main">
              <a:ext uri="{FF2B5EF4-FFF2-40B4-BE49-F238E27FC236}">
                <a16:creationId xmlns:a16="http://schemas.microsoft.com/office/drawing/2014/main" id="{53E6983E-EA72-4A7A-8ADF-DD85439A4A61}"/>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Does everyone becoming happy imply that the population remains mixed?</a:t>
            </a:r>
          </a:p>
        </p:txBody>
      </p:sp>
    </p:spTree>
    <p:extLst>
      <p:ext uri="{BB962C8B-B14F-4D97-AF65-F5344CB8AC3E}">
        <p14:creationId xmlns:p14="http://schemas.microsoft.com/office/powerpoint/2010/main" val="1287110209"/>
      </p:ext>
    </p:extLst>
  </p:cSld>
</p:sld>
</file>

<file path=ppt/slides/slide6.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B980A0-C641-43CF-AB24-93AA0DFF7301}"/>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Reverse engineering</a:t>
            </a:r>
          </a:p>
        </p:txBody>
      </p:sp>
      <p:sp>
        <p:nvSpPr>
          <p:cNvPr id="2" name="">
            <a:extLst xmlns:a="http://schemas.openxmlformats.org/drawingml/2006/main">
              <a:ext uri="{FF2B5EF4-FFF2-40B4-BE49-F238E27FC236}">
                <a16:creationId xmlns:a16="http://schemas.microsoft.com/office/drawing/2014/main" id="{8E5B63A5-7A9C-48D0-9AA1-0166D43618AA}"/>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Teaching scaffold</a:t>
            </a:r>
          </a:p>
        </p:txBody>
      </p:sp>
      <p:sp>
        <p:nvSpPr>
          <p:cNvPr id="3" name="">
            <a:extLst xmlns:a="http://schemas.openxmlformats.org/drawingml/2006/main">
              <a:ext uri="{FF2B5EF4-FFF2-40B4-BE49-F238E27FC236}">
                <a16:creationId xmlns:a16="http://schemas.microsoft.com/office/drawing/2014/main" id="{1555BE36-2674-4C3B-B81A-115F036D065C}"/>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E27A81FE-926C-48B7-8B8C-DA4AB23165D2}"/>
              </a:ext>
            </a:extLst>
          </p:cNvPr>
          <p:cNvSpPr>
            <a:spLocks xmlns:a="http://schemas.openxmlformats.org/drawingml/2006/main" noGrp="1"/>
          </p:cNvSpPr>
          <p:nvPr/>
        </p:nvSpPr>
        <p:spPr>
          <a:xfrm xmlns:a="http://schemas.openxmlformats.org/drawingml/2006/main">
            <a:off x="381000" y="1057275"/>
            <a:ext cx="44291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11111"/>
                </a:solidFill>
                <a:latin typeface="Arial"/>
                <a:ea typeface="Arial"/>
                <a:cs typeface="Arial"/>
              </a:defRPr>
            </a:defPPr>
          </a:lstStyle>
          <a:p xmlns:a="http://schemas.openxmlformats.org/drawingml/2006/main">
            <a:pPr>
              <a:defRPr sz="2175" b="0">
                <a:solidFill>
                  <a:srgbClr val="111111"/>
                </a:solidFill>
                <a:latin typeface="Arial"/>
                <a:ea typeface="Arial"/>
                <a:cs typeface="Arial"/>
              </a:defRPr>
            </a:pPr>
            <a:r>
              <a:rPr sz="2175" b="0">
                <a:solidFill>
                  <a:srgbClr val="111111"/>
                </a:solidFill>
                <a:latin typeface="Arial"/>
                <a:ea typeface="Arial"/>
                <a:cs typeface="Arial"/>
              </a:rPr>
              <a:t>Running model</a:t>
            </a:r>
          </a:p>
          <a:p xmlns:a="http://schemas.openxmlformats.org/drawingml/2006/main">
            <a:pPr>
              <a:defRPr sz="2175" b="0">
                <a:solidFill>
                  <a:srgbClr val="111111"/>
                </a:solidFill>
                <a:latin typeface="Arial"/>
                <a:ea typeface="Arial"/>
                <a:cs typeface="Arial"/>
              </a:defRPr>
            </a:pPr>
            <a:r>
              <a:rPr sz="2175" b="0">
                <a:solidFill>
                  <a:srgbClr val="111111"/>
                </a:solidFill>
                <a:latin typeface="Arial"/>
                <a:ea typeface="Arial"/>
                <a:cs typeface="Arial"/>
              </a:rPr>
              <a:t>Code and declarations</a:t>
            </a:r>
          </a:p>
          <a:p xmlns:a="http://schemas.openxmlformats.org/drawingml/2006/main">
            <a:pPr>
              <a:defRPr sz="2175" b="0">
                <a:solidFill>
                  <a:srgbClr val="111111"/>
                </a:solidFill>
                <a:latin typeface="Arial"/>
                <a:ea typeface="Arial"/>
                <a:cs typeface="Arial"/>
              </a:defRPr>
            </a:pPr>
            <a:r>
              <a:rPr sz="2175" b="0">
                <a:solidFill>
                  <a:srgbClr val="111111"/>
                </a:solidFill>
                <a:latin typeface="Arial"/>
                <a:ea typeface="Arial"/>
                <a:cs typeface="Arial"/>
              </a:rPr>
              <a:t>Four As and LUL ontology</a:t>
            </a:r>
          </a:p>
          <a:p xmlns:a="http://schemas.openxmlformats.org/drawingml/2006/main">
            <a:pPr>
              <a:defRPr sz="2175" b="0">
                <a:solidFill>
                  <a:srgbClr val="111111"/>
                </a:solidFill>
                <a:latin typeface="Arial"/>
                <a:ea typeface="Arial"/>
                <a:cs typeface="Arial"/>
              </a:defRPr>
            </a:pPr>
            <a:r>
              <a:rPr sz="2175" b="0">
                <a:solidFill>
                  <a:srgbClr val="111111"/>
                </a:solidFill>
                <a:latin typeface="Arial"/>
                <a:ea typeface="Arial"/>
                <a:cs typeface="Arial"/>
              </a:rPr>
              <a:t>Simple flowchart with CLOCK</a:t>
            </a:r>
          </a:p>
          <a:p xmlns:a="http://schemas.openxmlformats.org/drawingml/2006/main">
            <a:pPr>
              <a:defRPr sz="2175" b="0">
                <a:solidFill>
                  <a:srgbClr val="111111"/>
                </a:solidFill>
                <a:latin typeface="Arial"/>
                <a:ea typeface="Arial"/>
                <a:cs typeface="Arial"/>
              </a:defRPr>
            </a:pPr>
            <a:r>
              <a:rPr sz="2175" b="0">
                <a:solidFill>
                  <a:srgbClr val="111111"/>
                </a:solidFill>
                <a:latin typeface="Arial"/>
                <a:ea typeface="Arial"/>
                <a:cs typeface="Arial"/>
              </a:rPr>
              <a:t>Design critique</a:t>
            </a:r>
          </a:p>
          <a:p xmlns:a="http://schemas.openxmlformats.org/drawingml/2006/main">
            <a:pPr>
              <a:defRPr sz="2175" b="0">
                <a:solidFill>
                  <a:srgbClr val="111111"/>
                </a:solidFill>
                <a:latin typeface="Arial"/>
                <a:ea typeface="Arial"/>
                <a:cs typeface="Arial"/>
              </a:defRPr>
            </a:pPr>
            <a:r>
              <a:rPr sz="2175" b="0">
                <a:solidFill>
                  <a:srgbClr val="111111"/>
                </a:solidFill>
                <a:latin typeface="Arial"/>
                <a:ea typeface="Arial"/>
                <a:cs typeface="Arial"/>
              </a:rPr>
              <a:t>BehaviorSpace experiments</a:t>
            </a:r>
          </a:p>
        </p:txBody>
      </p:sp>
      <p:sp>
        <p:nvSpPr>
          <p:cNvPr id="5" name="">
            <a:extLst xmlns:a="http://schemas.openxmlformats.org/drawingml/2006/main">
              <a:ext uri="{FF2B5EF4-FFF2-40B4-BE49-F238E27FC236}">
                <a16:creationId xmlns:a16="http://schemas.microsoft.com/office/drawing/2014/main" id="{2CE8E2A6-D94A-497E-82DC-251630DA91D0}"/>
              </a:ext>
            </a:extLst>
          </p:cNvPr>
          <p:cNvSpPr>
            <a:spLocks xmlns:a="http://schemas.openxmlformats.org/drawingml/2006/main" noGrp="1"/>
          </p:cNvSpPr>
          <p:nvPr/>
        </p:nvSpPr>
        <p:spPr>
          <a:xfrm xmlns:a="http://schemas.openxmlformats.org/drawingml/2006/main">
            <a:off x="5143500" y="1400175"/>
            <a:ext cx="3429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243AFF"/>
                </a:solidFill>
                <a:latin typeface="Arial"/>
                <a:ea typeface="Arial"/>
                <a:cs typeface="Arial"/>
              </a:defRPr>
            </a:defPPr>
          </a:lstStyle>
          <a:p xmlns:a="http://schemas.openxmlformats.org/drawingml/2006/main">
            <a:pPr>
              <a:defRPr sz="2100" b="1">
                <a:solidFill>
                  <a:srgbClr val="243AFF"/>
                </a:solidFill>
                <a:latin typeface="Arial"/>
                <a:ea typeface="Arial"/>
                <a:cs typeface="Arial"/>
              </a:defRPr>
            </a:pPr>
            <a:r>
              <a:rPr sz="2100" b="1">
                <a:solidFill>
                  <a:srgbClr val="243AFF"/>
                </a:solidFill>
                <a:latin typeface="Arial"/>
                <a:ea typeface="Arial"/>
                <a:cs typeface="Arial"/>
              </a:rPr>
              <a:t>What does the code</a:t>
            </a:r>
          </a:p>
          <a:p xmlns:a="http://schemas.openxmlformats.org/drawingml/2006/main">
            <a:pPr>
              <a:defRPr sz="2100" b="1">
                <a:solidFill>
                  <a:srgbClr val="243AFF"/>
                </a:solidFill>
                <a:latin typeface="Arial"/>
                <a:ea typeface="Arial"/>
                <a:cs typeface="Arial"/>
              </a:defRPr>
            </a:pPr>
            <a:r>
              <a:rPr sz="2100" b="1">
                <a:solidFill>
                  <a:srgbClr val="243AFF"/>
                </a:solidFill>
                <a:latin typeface="Arial"/>
                <a:ea typeface="Arial"/>
                <a:cs typeface="Arial"/>
              </a:rPr>
              <a:t>make explicit?</a:t>
            </a:r>
          </a:p>
          <a:p xmlns:a="http://schemas.openxmlformats.org/drawingml/2006/main">
            <a:r>
              <a:t/>
            </a:r>
          </a:p>
          <a:p xmlns:a="http://schemas.openxmlformats.org/drawingml/2006/main">
            <a:pPr>
              <a:defRPr sz="2100" b="1">
                <a:solidFill>
                  <a:srgbClr val="243AFF"/>
                </a:solidFill>
                <a:latin typeface="Arial"/>
                <a:ea typeface="Arial"/>
                <a:cs typeface="Arial"/>
              </a:defRPr>
            </a:pPr>
            <a:r>
              <a:rPr sz="2100" b="1">
                <a:solidFill>
                  <a:srgbClr val="243AFF"/>
                </a:solidFill>
                <a:latin typeface="Arial"/>
                <a:ea typeface="Arial"/>
                <a:cs typeface="Arial"/>
              </a:rPr>
              <a:t>What must we infer?</a:t>
            </a:r>
          </a:p>
          <a:p xmlns:a="http://schemas.openxmlformats.org/drawingml/2006/main">
            <a:r>
              <a:t/>
            </a:r>
          </a:p>
          <a:p xmlns:a="http://schemas.openxmlformats.org/drawingml/2006/main">
            <a:pPr>
              <a:defRPr sz="2100" b="1">
                <a:solidFill>
                  <a:srgbClr val="243AFF"/>
                </a:solidFill>
                <a:latin typeface="Arial"/>
                <a:ea typeface="Arial"/>
                <a:cs typeface="Arial"/>
              </a:defRPr>
            </a:pPr>
            <a:r>
              <a:rPr sz="2100" b="1">
                <a:solidFill>
                  <a:srgbClr val="243AFF"/>
                </a:solidFill>
                <a:latin typeface="Arial"/>
                <a:ea typeface="Arial"/>
                <a:cs typeface="Arial"/>
              </a:rPr>
              <a:t>What should we redesign?</a:t>
            </a:r>
          </a:p>
        </p:txBody>
      </p:sp>
    </p:spTree>
    <p:extLst>
      <p:ext uri="{BB962C8B-B14F-4D97-AF65-F5344CB8AC3E}">
        <p14:creationId xmlns:p14="http://schemas.microsoft.com/office/powerpoint/2010/main" val="890593459"/>
      </p:ext>
    </p:extLst>
  </p:cSld>
</p:sld>
</file>

<file path=ppt/slides/slide7.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75B2A0-8ABE-4A4B-B5BE-B4E4B0326947}"/>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Globals: the model as a whole</a:t>
            </a:r>
          </a:p>
        </p:txBody>
      </p:sp>
      <p:sp>
        <p:nvSpPr>
          <p:cNvPr id="2" name="">
            <a:extLst xmlns:a="http://schemas.openxmlformats.org/drawingml/2006/main">
              <a:ext uri="{FF2B5EF4-FFF2-40B4-BE49-F238E27FC236}">
                <a16:creationId xmlns:a16="http://schemas.microsoft.com/office/drawing/2014/main" id="{D77451F9-5274-498E-87B6-8B0B4BE70613}"/>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Model code</a:t>
            </a:r>
          </a:p>
        </p:txBody>
      </p:sp>
      <p:sp>
        <p:nvSpPr>
          <p:cNvPr id="3" name="">
            <a:extLst xmlns:a="http://schemas.openxmlformats.org/drawingml/2006/main">
              <a:ext uri="{FF2B5EF4-FFF2-40B4-BE49-F238E27FC236}">
                <a16:creationId xmlns:a16="http://schemas.microsoft.com/office/drawing/2014/main" id="{6946E691-8F3F-4C3F-84A2-C2C97D356492}"/>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7</a:t>
            </a:r>
          </a:p>
        </p:txBody>
      </p:sp>
      <p:sp>
        <p:nvSpPr>
          <p:cNvPr id="4" name="">
            <a:extLst xmlns:a="http://schemas.openxmlformats.org/drawingml/2006/main">
              <a:ext uri="{FF2B5EF4-FFF2-40B4-BE49-F238E27FC236}">
                <a16:creationId xmlns:a16="http://schemas.microsoft.com/office/drawing/2014/main" id="{C4B4B739-1E29-4A99-B9D2-A7A4E55C85B7}"/>
              </a:ext>
            </a:extLst>
          </p:cNvPr>
          <p:cNvSpPr>
            <a:spLocks xmlns:a="http://schemas.openxmlformats.org/drawingml/2006/main" noGrp="1"/>
          </p:cNvSpPr>
          <p:nvPr/>
        </p:nvSpPr>
        <p:spPr>
          <a:xfrm xmlns:a="http://schemas.openxmlformats.org/drawingml/2006/main">
            <a:off x="381000" y="1285875"/>
            <a:ext cx="4286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075A50"/>
                </a:solidFill>
                <a:latin typeface="Courier New"/>
                <a:ea typeface="Courier New"/>
                <a:cs typeface="Courier New"/>
              </a:defRPr>
            </a:defPPr>
          </a:lstStyle>
          <a:p xmlns:a="http://schemas.openxmlformats.org/drawingml/2006/main">
            <a:pPr>
              <a:defRPr sz="2100" b="0">
                <a:solidFill>
                  <a:srgbClr val="075A50"/>
                </a:solidFill>
                <a:latin typeface="Courier New"/>
                <a:ea typeface="Courier New"/>
                <a:cs typeface="Courier New"/>
              </a:defRPr>
            </a:pPr>
            <a:r>
              <a:rPr sz="2100" b="0">
                <a:solidFill>
                  <a:srgbClr val="075A50"/>
                </a:solidFill>
                <a:latin typeface="Courier New"/>
                <a:ea typeface="Courier New"/>
                <a:cs typeface="Courier New"/>
              </a:rPr>
              <a:t>globals [</a:t>
            </a:r>
          </a:p>
          <a:p xmlns:a="http://schemas.openxmlformats.org/drawingml/2006/main">
            <a:pPr>
              <a:defRPr sz="2100" b="0">
                <a:solidFill>
                  <a:srgbClr val="075A50"/>
                </a:solidFill>
                <a:latin typeface="Courier New"/>
                <a:ea typeface="Courier New"/>
                <a:cs typeface="Courier New"/>
              </a:defRPr>
            </a:pPr>
            <a:r>
              <a:rPr sz="2100" b="0">
                <a:solidFill>
                  <a:srgbClr val="075A50"/>
                </a:solidFill>
                <a:latin typeface="Courier New"/>
                <a:ea typeface="Courier New"/>
                <a:cs typeface="Courier New"/>
              </a:rPr>
              <a:t>  percent-similar</a:t>
            </a:r>
          </a:p>
          <a:p xmlns:a="http://schemas.openxmlformats.org/drawingml/2006/main">
            <a:pPr>
              <a:defRPr sz="2100" b="0">
                <a:solidFill>
                  <a:srgbClr val="075A50"/>
                </a:solidFill>
                <a:latin typeface="Courier New"/>
                <a:ea typeface="Courier New"/>
                <a:cs typeface="Courier New"/>
              </a:defRPr>
            </a:pPr>
            <a:r>
              <a:rPr sz="2100" b="0">
                <a:solidFill>
                  <a:srgbClr val="075A50"/>
                </a:solidFill>
                <a:latin typeface="Courier New"/>
                <a:ea typeface="Courier New"/>
                <a:cs typeface="Courier New"/>
              </a:rPr>
              <a:t>  percent-unhappy</a:t>
            </a:r>
          </a:p>
          <a:p xmlns:a="http://schemas.openxmlformats.org/drawingml/2006/main">
            <a:pPr>
              <a:defRPr sz="2100" b="0">
                <a:solidFill>
                  <a:srgbClr val="075A50"/>
                </a:solidFill>
                <a:latin typeface="Courier New"/>
                <a:ea typeface="Courier New"/>
                <a:cs typeface="Courier New"/>
              </a:defRPr>
            </a:pPr>
            <a:r>
              <a:rPr sz="2100" b="0">
                <a:solidFill>
                  <a:srgbClr val="075A50"/>
                </a:solidFill>
                <a:latin typeface="Courier New"/>
                <a:ea typeface="Courier New"/>
                <a:cs typeface="Courier New"/>
              </a:rPr>
              <a:t>]</a:t>
            </a:r>
          </a:p>
        </p:txBody>
      </p:sp>
      <p:sp>
        <p:nvSpPr>
          <p:cNvPr id="5" name="">
            <a:extLst xmlns:a="http://schemas.openxmlformats.org/drawingml/2006/main">
              <a:ext uri="{FF2B5EF4-FFF2-40B4-BE49-F238E27FC236}">
                <a16:creationId xmlns:a16="http://schemas.microsoft.com/office/drawing/2014/main" id="{9395B7E1-A9EE-4EC5-852B-527095F5248F}"/>
              </a:ext>
            </a:extLst>
          </p:cNvPr>
          <p:cNvSpPr>
            <a:spLocks xmlns:a="http://schemas.openxmlformats.org/drawingml/2006/main" noGrp="1"/>
          </p:cNvSpPr>
          <p:nvPr/>
        </p:nvSpPr>
        <p:spPr>
          <a:xfrm xmlns:a="http://schemas.openxmlformats.org/drawingml/2006/main">
            <a:off x="5143500" y="1247775"/>
            <a:ext cx="3429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11111"/>
                </a:solidFill>
                <a:latin typeface="Arial"/>
                <a:ea typeface="Arial"/>
                <a:cs typeface="Arial"/>
              </a:defRPr>
            </a:defPPr>
          </a:lstStyle>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Two collective measures.</a:t>
            </a:r>
          </a:p>
          <a:p xmlns:a="http://schemas.openxmlformats.org/drawingml/2006/main">
            <a:r>
              <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The observer calculates</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and updates them.</a:t>
            </a:r>
          </a:p>
          <a:p xmlns:a="http://schemas.openxmlformats.org/drawingml/2006/main">
            <a:r>
              <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We inspect their formulas later.</a:t>
            </a:r>
          </a:p>
        </p:txBody>
      </p:sp>
      <p:sp>
        <p:nvSpPr>
          <p:cNvPr id="6" name="">
            <a:extLst xmlns:a="http://schemas.openxmlformats.org/drawingml/2006/main">
              <a:ext uri="{FF2B5EF4-FFF2-40B4-BE49-F238E27FC236}">
                <a16:creationId xmlns:a16="http://schemas.microsoft.com/office/drawing/2014/main" id="{99A08057-B749-457E-ADEA-122706C7F2A1}"/>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What describes an individual, and what describes the whole population?</a:t>
            </a:r>
          </a:p>
        </p:txBody>
      </p:sp>
    </p:spTree>
    <p:extLst>
      <p:ext uri="{BB962C8B-B14F-4D97-AF65-F5344CB8AC3E}">
        <p14:creationId xmlns:p14="http://schemas.microsoft.com/office/powerpoint/2010/main" val="2002582301"/>
      </p:ext>
    </p:extLst>
  </p:cSld>
</p:sld>
</file>

<file path=ppt/slides/slide8.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318D51-C0DA-4C72-BBCC-7A96BC05C962}"/>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One A1 class: turtles</a:t>
            </a:r>
          </a:p>
        </p:txBody>
      </p:sp>
      <p:sp>
        <p:nvSpPr>
          <p:cNvPr id="2" name="">
            <a:extLst xmlns:a="http://schemas.openxmlformats.org/drawingml/2006/main">
              <a:ext uri="{FF2B5EF4-FFF2-40B4-BE49-F238E27FC236}">
                <a16:creationId xmlns:a16="http://schemas.microsoft.com/office/drawing/2014/main" id="{F1721ED1-0169-4C01-8939-75C378EA0709}"/>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Model code + recovered ontology</a:t>
            </a:r>
          </a:p>
        </p:txBody>
      </p:sp>
      <p:sp>
        <p:nvSpPr>
          <p:cNvPr id="3" name="">
            <a:extLst xmlns:a="http://schemas.openxmlformats.org/drawingml/2006/main">
              <a:ext uri="{FF2B5EF4-FFF2-40B4-BE49-F238E27FC236}">
                <a16:creationId xmlns:a16="http://schemas.microsoft.com/office/drawing/2014/main" id="{8B0395A9-A1F6-401A-950D-F59EC265C9F9}"/>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8</a:t>
            </a:r>
          </a:p>
        </p:txBody>
      </p:sp>
      <p:sp>
        <p:nvSpPr>
          <p:cNvPr id="4" name="">
            <a:extLst xmlns:a="http://schemas.openxmlformats.org/drawingml/2006/main">
              <a:ext uri="{FF2B5EF4-FFF2-40B4-BE49-F238E27FC236}">
                <a16:creationId xmlns:a16="http://schemas.microsoft.com/office/drawing/2014/main" id="{64F2ADBD-A2A8-41D6-A54B-DE8416A2846D}"/>
              </a:ext>
            </a:extLst>
          </p:cNvPr>
          <p:cNvSpPr>
            <a:spLocks xmlns:a="http://schemas.openxmlformats.org/drawingml/2006/main" noGrp="1"/>
          </p:cNvSpPr>
          <p:nvPr/>
        </p:nvSpPr>
        <p:spPr>
          <a:xfrm xmlns:a="http://schemas.openxmlformats.org/drawingml/2006/main">
            <a:off x="381000" y="1200150"/>
            <a:ext cx="4191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075A50"/>
                </a:solidFill>
                <a:latin typeface="Courier New"/>
                <a:ea typeface="Courier New"/>
                <a:cs typeface="Courier New"/>
              </a:defRPr>
            </a:defPPr>
          </a:lstStyle>
          <a:p xmlns:a="http://schemas.openxmlformats.org/drawingml/2006/main">
            <a:pPr>
              <a:defRPr sz="2100" b="0">
                <a:solidFill>
                  <a:srgbClr val="075A50"/>
                </a:solidFill>
                <a:latin typeface="Courier New"/>
                <a:ea typeface="Courier New"/>
                <a:cs typeface="Courier New"/>
              </a:defRPr>
            </a:pPr>
            <a:r>
              <a:rPr sz="2100" b="0">
                <a:solidFill>
                  <a:srgbClr val="075A50"/>
                </a:solidFill>
                <a:latin typeface="Courier New"/>
                <a:ea typeface="Courier New"/>
                <a:cs typeface="Courier New"/>
              </a:rPr>
              <a:t>turtles-own [</a:t>
            </a:r>
          </a:p>
          <a:p xmlns:a="http://schemas.openxmlformats.org/drawingml/2006/main">
            <a:pPr>
              <a:defRPr sz="2100" b="0">
                <a:solidFill>
                  <a:srgbClr val="075A50"/>
                </a:solidFill>
                <a:latin typeface="Courier New"/>
                <a:ea typeface="Courier New"/>
                <a:cs typeface="Courier New"/>
              </a:defRPr>
            </a:pPr>
            <a:r>
              <a:rPr sz="2100" b="0">
                <a:solidFill>
                  <a:srgbClr val="075A50"/>
                </a:solidFill>
                <a:latin typeface="Courier New"/>
                <a:ea typeface="Courier New"/>
                <a:cs typeface="Courier New"/>
              </a:rPr>
              <a:t>  happy?</a:t>
            </a:r>
          </a:p>
          <a:p xmlns:a="http://schemas.openxmlformats.org/drawingml/2006/main">
            <a:pPr>
              <a:defRPr sz="2100" b="0">
                <a:solidFill>
                  <a:srgbClr val="075A50"/>
                </a:solidFill>
                <a:latin typeface="Courier New"/>
                <a:ea typeface="Courier New"/>
                <a:cs typeface="Courier New"/>
              </a:defRPr>
            </a:pPr>
            <a:r>
              <a:rPr sz="2100" b="0">
                <a:solidFill>
                  <a:srgbClr val="075A50"/>
                </a:solidFill>
                <a:latin typeface="Courier New"/>
                <a:ea typeface="Courier New"/>
                <a:cs typeface="Courier New"/>
              </a:rPr>
              <a:t>  similar-nearby</a:t>
            </a:r>
          </a:p>
          <a:p xmlns:a="http://schemas.openxmlformats.org/drawingml/2006/main">
            <a:pPr>
              <a:defRPr sz="2100" b="0">
                <a:solidFill>
                  <a:srgbClr val="075A50"/>
                </a:solidFill>
                <a:latin typeface="Courier New"/>
                <a:ea typeface="Courier New"/>
                <a:cs typeface="Courier New"/>
              </a:defRPr>
            </a:pPr>
            <a:r>
              <a:rPr sz="2100" b="0">
                <a:solidFill>
                  <a:srgbClr val="075A50"/>
                </a:solidFill>
                <a:latin typeface="Courier New"/>
                <a:ea typeface="Courier New"/>
                <a:cs typeface="Courier New"/>
              </a:rPr>
              <a:t>  other-nearby</a:t>
            </a:r>
          </a:p>
          <a:p xmlns:a="http://schemas.openxmlformats.org/drawingml/2006/main">
            <a:pPr>
              <a:defRPr sz="2100" b="0">
                <a:solidFill>
                  <a:srgbClr val="075A50"/>
                </a:solidFill>
                <a:latin typeface="Courier New"/>
                <a:ea typeface="Courier New"/>
                <a:cs typeface="Courier New"/>
              </a:defRPr>
            </a:pPr>
            <a:r>
              <a:rPr sz="2100" b="0">
                <a:solidFill>
                  <a:srgbClr val="075A50"/>
                </a:solidFill>
                <a:latin typeface="Courier New"/>
                <a:ea typeface="Courier New"/>
                <a:cs typeface="Courier New"/>
              </a:rPr>
              <a:t>  total-nearby</a:t>
            </a:r>
          </a:p>
          <a:p xmlns:a="http://schemas.openxmlformats.org/drawingml/2006/main">
            <a:pPr>
              <a:defRPr sz="2100" b="0">
                <a:solidFill>
                  <a:srgbClr val="075A50"/>
                </a:solidFill>
                <a:latin typeface="Courier New"/>
                <a:ea typeface="Courier New"/>
                <a:cs typeface="Courier New"/>
              </a:defRPr>
            </a:pPr>
            <a:r>
              <a:rPr sz="2100" b="0">
                <a:solidFill>
                  <a:srgbClr val="075A50"/>
                </a:solidFill>
                <a:latin typeface="Courier New"/>
                <a:ea typeface="Courier New"/>
                <a:cs typeface="Courier New"/>
              </a:rPr>
              <a:t>]</a:t>
            </a:r>
          </a:p>
        </p:txBody>
      </p:sp>
      <p:sp>
        <p:nvSpPr>
          <p:cNvPr id="5" name="">
            <a:extLst xmlns:a="http://schemas.openxmlformats.org/drawingml/2006/main">
              <a:ext uri="{FF2B5EF4-FFF2-40B4-BE49-F238E27FC236}">
                <a16:creationId xmlns:a16="http://schemas.microsoft.com/office/drawing/2014/main" id="{8B43C6C0-0247-4FED-B2FF-DE8362DA084F}"/>
              </a:ext>
            </a:extLst>
          </p:cNvPr>
          <p:cNvSpPr>
            <a:spLocks xmlns:a="http://schemas.openxmlformats.org/drawingml/2006/main" noGrp="1"/>
          </p:cNvSpPr>
          <p:nvPr/>
        </p:nvSpPr>
        <p:spPr>
          <a:xfrm xmlns:a="http://schemas.openxmlformats.org/drawingml/2006/main">
            <a:off x="5048250" y="1228725"/>
            <a:ext cx="36195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Each turtle stores its own states.</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Both groups use turtles.</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No breeds appear in this code.</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Group membership is a state,</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not a separate agent class.</a:t>
            </a:r>
          </a:p>
        </p:txBody>
      </p:sp>
      <p:sp>
        <p:nvSpPr>
          <p:cNvPr id="6" name="">
            <a:extLst xmlns:a="http://schemas.openxmlformats.org/drawingml/2006/main">
              <a:ext uri="{FF2B5EF4-FFF2-40B4-BE49-F238E27FC236}">
                <a16:creationId xmlns:a16="http://schemas.microsoft.com/office/drawing/2014/main" id="{EDE8C573-6269-425F-B93B-4AFC9B37AAC1}"/>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How can two groups share the same A1 class?</a:t>
            </a:r>
          </a:p>
        </p:txBody>
      </p:sp>
    </p:spTree>
    <p:extLst>
      <p:ext uri="{BB962C8B-B14F-4D97-AF65-F5344CB8AC3E}">
        <p14:creationId xmlns:p14="http://schemas.microsoft.com/office/powerpoint/2010/main" val="535842235"/>
      </p:ext>
    </p:extLst>
  </p:cSld>
</p:sld>
</file>

<file path=ppt/slides/slide9.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4221AA-9CAC-41CC-9173-2D15A95F70C0}"/>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Built-in states and explicit specification</a:t>
            </a:r>
          </a:p>
        </p:txBody>
      </p:sp>
      <p:sp>
        <p:nvSpPr>
          <p:cNvPr id="2" name="">
            <a:extLst xmlns:a="http://schemas.openxmlformats.org/drawingml/2006/main">
              <a:ext uri="{FF2B5EF4-FFF2-40B4-BE49-F238E27FC236}">
                <a16:creationId xmlns:a16="http://schemas.microsoft.com/office/drawing/2014/main" id="{7AAAFDFA-31C6-480F-80D7-0A88648BCB1D}"/>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Design critique</a:t>
            </a:r>
          </a:p>
        </p:txBody>
      </p:sp>
      <p:sp>
        <p:nvSpPr>
          <p:cNvPr id="3" name="">
            <a:extLst xmlns:a="http://schemas.openxmlformats.org/drawingml/2006/main">
              <a:ext uri="{FF2B5EF4-FFF2-40B4-BE49-F238E27FC236}">
                <a16:creationId xmlns:a16="http://schemas.microsoft.com/office/drawing/2014/main" id="{A99F084E-5971-491E-87AF-F620AC588298}"/>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9</a:t>
            </a:r>
          </a:p>
        </p:txBody>
      </p:sp>
      <p:sp>
        <p:nvSpPr>
          <p:cNvPr id="4" name="">
            <a:extLst xmlns:a="http://schemas.openxmlformats.org/drawingml/2006/main">
              <a:ext uri="{FF2B5EF4-FFF2-40B4-BE49-F238E27FC236}">
                <a16:creationId xmlns:a16="http://schemas.microsoft.com/office/drawing/2014/main" id="{0526FE73-7DE2-4B08-A4CE-929ED3EA41C9}"/>
              </a:ext>
            </a:extLst>
          </p:cNvPr>
          <p:cNvSpPr>
            <a:spLocks xmlns:a="http://schemas.openxmlformats.org/drawingml/2006/main" noGrp="1"/>
          </p:cNvSpPr>
          <p:nvPr/>
        </p:nvSpPr>
        <p:spPr>
          <a:xfrm xmlns:a="http://schemas.openxmlformats.org/drawingml/2006/main">
            <a:off x="381000" y="1257300"/>
            <a:ext cx="3952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DECLARED HERE</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happy?</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similar-nearby</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other-nearby</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total-nearby</a:t>
            </a:r>
          </a:p>
        </p:txBody>
      </p:sp>
      <p:sp>
        <p:nvSpPr>
          <p:cNvPr id="5" name="">
            <a:extLst xmlns:a="http://schemas.openxmlformats.org/drawingml/2006/main">
              <a:ext uri="{FF2B5EF4-FFF2-40B4-BE49-F238E27FC236}">
                <a16:creationId xmlns:a16="http://schemas.microsoft.com/office/drawing/2014/main" id="{012FCD84-E425-4672-B697-DF8B7E7E59BD}"/>
              </a:ext>
            </a:extLst>
          </p:cNvPr>
          <p:cNvSpPr>
            <a:spLocks xmlns:a="http://schemas.openxmlformats.org/drawingml/2006/main" noGrp="1"/>
          </p:cNvSpPr>
          <p:nvPr/>
        </p:nvSpPr>
        <p:spPr>
          <a:xfrm xmlns:a="http://schemas.openxmlformats.org/drawingml/2006/main">
            <a:off x="4857750" y="1257300"/>
            <a:ext cx="39052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PROVIDED BY NETLOGO</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color</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size</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shape</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position</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These appear later in the code.</a:t>
            </a:r>
          </a:p>
        </p:txBody>
      </p:sp>
      <p:sp>
        <p:nvSpPr>
          <p:cNvPr id="6" name="">
            <a:extLst xmlns:a="http://schemas.openxmlformats.org/drawingml/2006/main">
              <a:ext uri="{FF2B5EF4-FFF2-40B4-BE49-F238E27FC236}">
                <a16:creationId xmlns:a16="http://schemas.microsoft.com/office/drawing/2014/main" id="{F694E826-DEB6-425F-8F8E-14C8BCF599A3}"/>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Built-in attributes help implementation. Their meaning still needs specification.</a:t>
            </a:r>
          </a:p>
        </p:txBody>
      </p:sp>
    </p:spTree>
    <p:extLst>
      <p:ext uri="{BB962C8B-B14F-4D97-AF65-F5344CB8AC3E}">
        <p14:creationId xmlns:p14="http://schemas.microsoft.com/office/powerpoint/2010/main" val="548862095"/>
      </p:ext>
    </p:extLst>
  </p:cSld>
</p:sld>
</file>

<file path=ppt/slides/slide10.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FA4A6C-C22E-4DEE-8A34-E9A949714E90}"/>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Group membership and appearance</a:t>
            </a:r>
          </a:p>
        </p:txBody>
      </p:sp>
      <p:sp>
        <p:nvSpPr>
          <p:cNvPr id="2" name="">
            <a:extLst xmlns:a="http://schemas.openxmlformats.org/drawingml/2006/main">
              <a:ext uri="{FF2B5EF4-FFF2-40B4-BE49-F238E27FC236}">
                <a16:creationId xmlns:a16="http://schemas.microsoft.com/office/drawing/2014/main" id="{3ECBDACD-1621-4EC2-AB7A-744FA34B5522}"/>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Proposed redesign</a:t>
            </a:r>
          </a:p>
        </p:txBody>
      </p:sp>
      <p:sp>
        <p:nvSpPr>
          <p:cNvPr id="3" name="">
            <a:extLst xmlns:a="http://schemas.openxmlformats.org/drawingml/2006/main">
              <a:ext uri="{FF2B5EF4-FFF2-40B4-BE49-F238E27FC236}">
                <a16:creationId xmlns:a16="http://schemas.microsoft.com/office/drawing/2014/main" id="{1F523173-4A29-4025-8751-249B982B8F3E}"/>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2812A85A-256E-45AA-AAC7-F1ABF5089491}"/>
              </a:ext>
            </a:extLst>
          </p:cNvPr>
          <p:cNvSpPr>
            <a:spLocks xmlns:a="http://schemas.openxmlformats.org/drawingml/2006/main" noGrp="1"/>
          </p:cNvSpPr>
          <p:nvPr/>
        </p:nvSpPr>
        <p:spPr>
          <a:xfrm xmlns:a="http://schemas.openxmlformats.org/drawingml/2006/main">
            <a:off x="381000" y="1285875"/>
            <a:ext cx="5905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075A50"/>
                </a:solidFill>
                <a:latin typeface="Courier New"/>
                <a:ea typeface="Courier New"/>
                <a:cs typeface="Courier New"/>
              </a:defRPr>
            </a:defPPr>
          </a:lstStyle>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add group to turtles-own</a:t>
            </a:r>
          </a:p>
          <a:p xmlns:a="http://schemas.openxmlformats.org/drawingml/2006/main">
            <a:r>
              <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inside sprout in setup</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set group one-of [0 1]</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set color ifelse-value (group = 0)</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[105] [27]</a:t>
            </a:r>
          </a:p>
        </p:txBody>
      </p:sp>
      <p:sp>
        <p:nvSpPr>
          <p:cNvPr id="5" name="">
            <a:extLst xmlns:a="http://schemas.openxmlformats.org/drawingml/2006/main">
              <a:ext uri="{FF2B5EF4-FFF2-40B4-BE49-F238E27FC236}">
                <a16:creationId xmlns:a16="http://schemas.microsoft.com/office/drawing/2014/main" id="{99BA531D-B8E8-4CCA-9927-4351921C8508}"/>
              </a:ext>
            </a:extLst>
          </p:cNvPr>
          <p:cNvSpPr>
            <a:spLocks xmlns:a="http://schemas.openxmlformats.org/drawingml/2006/main" noGrp="1"/>
          </p:cNvSpPr>
          <p:nvPr/>
        </p:nvSpPr>
        <p:spPr>
          <a:xfrm xmlns:a="http://schemas.openxmlformats.org/drawingml/2006/main">
            <a:off x="6619875" y="1304925"/>
            <a:ext cx="214312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243AFF"/>
                </a:solidFill>
                <a:latin typeface="Arial"/>
                <a:ea typeface="Arial"/>
                <a:cs typeface="Arial"/>
              </a:defRPr>
            </a:defPPr>
          </a:lstStyle>
          <a:p xmlns:a="http://schemas.openxmlformats.org/drawingml/2006/main">
            <a:pPr>
              <a:defRPr sz="1800" b="1">
                <a:solidFill>
                  <a:srgbClr val="243AFF"/>
                </a:solidFill>
                <a:latin typeface="Arial"/>
                <a:ea typeface="Arial"/>
                <a:cs typeface="Arial"/>
              </a:defRPr>
            </a:pPr>
            <a:r>
              <a:rPr sz="1800" b="1">
                <a:solidFill>
                  <a:srgbClr val="243AFF"/>
                </a:solidFill>
                <a:latin typeface="Arial"/>
                <a:ea typeface="Arial"/>
                <a:cs typeface="Arial"/>
              </a:rPr>
              <a:t>group</a:t>
            </a:r>
          </a:p>
          <a:p xmlns:a="http://schemas.openxmlformats.org/drawingml/2006/main">
            <a:pPr>
              <a:defRPr sz="1800" b="1">
                <a:solidFill>
                  <a:srgbClr val="243AFF"/>
                </a:solidFill>
                <a:latin typeface="Arial"/>
                <a:ea typeface="Arial"/>
                <a:cs typeface="Arial"/>
              </a:defRPr>
            </a:pPr>
            <a:r>
              <a:rPr sz="1800" b="1">
                <a:solidFill>
                  <a:srgbClr val="243AFF"/>
                </a:solidFill>
                <a:latin typeface="Arial"/>
                <a:ea typeface="Arial"/>
                <a:cs typeface="Arial"/>
              </a:rPr>
              <a:t>Conceptual membership</a:t>
            </a:r>
          </a:p>
          <a:p xmlns:a="http://schemas.openxmlformats.org/drawingml/2006/main">
            <a:r>
              <a:t/>
            </a:r>
          </a:p>
          <a:p xmlns:a="http://schemas.openxmlformats.org/drawingml/2006/main">
            <a:pPr>
              <a:defRPr sz="1800" b="1">
                <a:solidFill>
                  <a:srgbClr val="243AFF"/>
                </a:solidFill>
                <a:latin typeface="Arial"/>
                <a:ea typeface="Arial"/>
                <a:cs typeface="Arial"/>
              </a:defRPr>
            </a:pPr>
            <a:r>
              <a:rPr sz="1800" b="1">
                <a:solidFill>
                  <a:srgbClr val="243AFF"/>
                </a:solidFill>
                <a:latin typeface="Arial"/>
                <a:ea typeface="Arial"/>
                <a:cs typeface="Arial"/>
              </a:rPr>
              <a:t>color</a:t>
            </a:r>
          </a:p>
          <a:p xmlns:a="http://schemas.openxmlformats.org/drawingml/2006/main">
            <a:pPr>
              <a:defRPr sz="1800" b="1">
                <a:solidFill>
                  <a:srgbClr val="243AFF"/>
                </a:solidFill>
                <a:latin typeface="Arial"/>
                <a:ea typeface="Arial"/>
                <a:cs typeface="Arial"/>
              </a:defRPr>
            </a:pPr>
            <a:r>
              <a:rPr sz="1800" b="1">
                <a:solidFill>
                  <a:srgbClr val="243AFF"/>
                </a:solidFill>
                <a:latin typeface="Arial"/>
                <a:ea typeface="Arial"/>
                <a:cs typeface="Arial"/>
              </a:rPr>
              <a:t>Visual representation</a:t>
            </a:r>
          </a:p>
        </p:txBody>
      </p:sp>
      <p:sp>
        <p:nvSpPr>
          <p:cNvPr id="6" name="">
            <a:extLst xmlns:a="http://schemas.openxmlformats.org/drawingml/2006/main">
              <a:ext uri="{FF2B5EF4-FFF2-40B4-BE49-F238E27FC236}">
                <a16:creationId xmlns:a16="http://schemas.microsoft.com/office/drawing/2014/main" id="{46658C27-9AD5-40F3-8B0E-FFBD3CEB7746}"/>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Neighbour comparisons must then use group instead of color.</a:t>
            </a:r>
          </a:p>
        </p:txBody>
      </p:sp>
    </p:spTree>
    <p:extLst>
      <p:ext uri="{BB962C8B-B14F-4D97-AF65-F5344CB8AC3E}">
        <p14:creationId xmlns:p14="http://schemas.microsoft.com/office/powerpoint/2010/main" val="1475377360"/>
      </p:ext>
    </p:extLst>
  </p:cSld>
</p:sld>
</file>

<file path=ppt/slides/slide11.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E24CAB-E414-4F26-A29F-1E494BA86A39}"/>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Setup reveals A2: patches</a:t>
            </a:r>
          </a:p>
        </p:txBody>
      </p:sp>
      <p:sp>
        <p:nvSpPr>
          <p:cNvPr id="2" name="">
            <a:extLst xmlns:a="http://schemas.openxmlformats.org/drawingml/2006/main">
              <a:ext uri="{FF2B5EF4-FFF2-40B4-BE49-F238E27FC236}">
                <a16:creationId xmlns:a16="http://schemas.microsoft.com/office/drawing/2014/main" id="{67284CFD-E35E-4929-B220-EFDFCCC2B9DA}"/>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Model code + recovered ontology</a:t>
            </a:r>
          </a:p>
        </p:txBody>
      </p:sp>
      <p:sp>
        <p:nvSpPr>
          <p:cNvPr id="3" name="">
            <a:extLst xmlns:a="http://schemas.openxmlformats.org/drawingml/2006/main">
              <a:ext uri="{FF2B5EF4-FFF2-40B4-BE49-F238E27FC236}">
                <a16:creationId xmlns:a16="http://schemas.microsoft.com/office/drawing/2014/main" id="{27F9FB87-34F7-4F88-99A9-0F8087375DAA}"/>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013F5B4A-E04B-4061-A69F-79D707F8B96E}"/>
              </a:ext>
            </a:extLst>
          </p:cNvPr>
          <p:cNvSpPr>
            <a:spLocks xmlns:a="http://schemas.openxmlformats.org/drawingml/2006/main" noGrp="1"/>
          </p:cNvSpPr>
          <p:nvPr/>
        </p:nvSpPr>
        <p:spPr>
          <a:xfrm xmlns:a="http://schemas.openxmlformats.org/drawingml/2006/main">
            <a:off x="381000" y="1076325"/>
            <a:ext cx="59055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075A50"/>
                </a:solidFill>
                <a:latin typeface="Courier New"/>
                <a:ea typeface="Courier New"/>
                <a:cs typeface="Courier New"/>
              </a:defRPr>
            </a:defPPr>
          </a:lstStyle>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to setup</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clear-all</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ask patches [</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set pcolor white</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if random 100 &lt; density [</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sprout 1 [</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set color one-of [105 27]</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set size 1</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a:t>
            </a:r>
          </a:p>
        </p:txBody>
      </p:sp>
      <p:sp>
        <p:nvSpPr>
          <p:cNvPr id="5" name="">
            <a:extLst xmlns:a="http://schemas.openxmlformats.org/drawingml/2006/main">
              <a:ext uri="{FF2B5EF4-FFF2-40B4-BE49-F238E27FC236}">
                <a16:creationId xmlns:a16="http://schemas.microsoft.com/office/drawing/2014/main" id="{8ABE4A63-8B29-4778-B25E-1974AD881113}"/>
              </a:ext>
            </a:extLst>
          </p:cNvPr>
          <p:cNvSpPr>
            <a:spLocks xmlns:a="http://schemas.openxmlformats.org/drawingml/2006/main" noGrp="1"/>
          </p:cNvSpPr>
          <p:nvPr/>
        </p:nvSpPr>
        <p:spPr>
          <a:xfrm xmlns:a="http://schemas.openxmlformats.org/drawingml/2006/main">
            <a:off x="6381750" y="1152525"/>
            <a:ext cx="2381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11111"/>
                </a:solidFill>
                <a:latin typeface="Arial"/>
                <a:ea typeface="Arial"/>
                <a:cs typeface="Arial"/>
              </a:defRPr>
            </a:defPPr>
          </a:lstStyle>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A2: residential locations</a:t>
            </a:r>
          </a:p>
          <a:p xmlns:a="http://schemas.openxmlformats.org/drawingml/2006/main">
            <a:r>
              <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pcolor belongs to patches.</a:t>
            </a:r>
          </a:p>
          <a:p xmlns:a="http://schemas.openxmlformats.org/drawingml/2006/main">
            <a:r>
              <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color and size belong</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to the new turtle.</a:t>
            </a:r>
          </a:p>
          <a:p xmlns:a="http://schemas.openxmlformats.org/drawingml/2006/main">
            <a:r>
              <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Occupancy varies by run.</a:t>
            </a:r>
          </a:p>
        </p:txBody>
      </p:sp>
      <p:sp>
        <p:nvSpPr>
          <p:cNvPr id="6" name="">
            <a:extLst xmlns:a="http://schemas.openxmlformats.org/drawingml/2006/main">
              <a:ext uri="{FF2B5EF4-FFF2-40B4-BE49-F238E27FC236}">
                <a16:creationId xmlns:a16="http://schemas.microsoft.com/office/drawing/2014/main" id="{6A813282-68E3-46CC-8964-6DE01E252C04}"/>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ask patches uses an existing arena and establishes initial occupancy.</a:t>
            </a:r>
          </a:p>
        </p:txBody>
      </p:sp>
    </p:spTree>
    <p:extLst>
      <p:ext uri="{BB962C8B-B14F-4D97-AF65-F5344CB8AC3E}">
        <p14:creationId xmlns:p14="http://schemas.microsoft.com/office/powerpoint/2010/main" val="1703969060"/>
      </p:ext>
    </p:extLst>
  </p:cSld>
</p:sld>
</file>

<file path=ppt/slides/slide12.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EE60AA26-60A6-4CE9-AD94-A2AB1F5CD73E}"/>
              </a:ext>
            </a:extLst>
          </p:cNvPr>
          <p:cNvCxnSpPr>
            <a:stCxn xmlns:a="http://schemas.openxmlformats.org/drawingml/2006/main" id="7" idx="2"/>
            <a:endCxn xmlns:a="http://schemas.openxmlformats.org/drawingml/2006/main" id="8" idx="0"/>
          </p:cNvCxnSpPr>
          <p:nvPr/>
        </p:nvCxnSpPr>
        <p:spPr>
          <a:xfrm xmlns:a="http://schemas.openxmlformats.org/drawingml/2006/main">
            <a:off x="6905625" y="3038475"/>
            <a:ext cx="0" cy="266700"/>
          </a:xfrm>
          <a:prstGeom xmlns:a="http://schemas.openxmlformats.org/drawingml/2006/main" prst="straightConnector1">
            <a:avLst/>
          </a:prstGeom>
          <a:ln xmlns:a="http://schemas.openxmlformats.org/drawingml/2006/main" w="19050">
            <a:solidFill>
              <a:srgbClr val="21A899"/>
            </a:solidFill>
            <a:tailEnd type="triangle" w="med" len="med"/>
          </a:ln>
        </p:spPr>
      </p:cxnSp>
      <p:cxnSp>
        <p:nvCxnSpPr>
          <p:cNvPr id="10" name="">
            <a:extLst xmlns:a="http://schemas.openxmlformats.org/drawingml/2006/main">
              <a:ext uri="{FF2B5EF4-FFF2-40B4-BE49-F238E27FC236}">
                <a16:creationId xmlns:a16="http://schemas.microsoft.com/office/drawing/2014/main" id="{4194D349-1E85-476B-A25F-BC90CFC7EED8}"/>
              </a:ext>
            </a:extLst>
          </p:cNvPr>
          <p:cNvCxnSpPr>
            <a:stCxn xmlns:a="http://schemas.openxmlformats.org/drawingml/2006/main" id="6" idx="2"/>
            <a:endCxn xmlns:a="http://schemas.openxmlformats.org/drawingml/2006/main" id="7" idx="0"/>
          </p:cNvCxnSpPr>
          <p:nvPr/>
        </p:nvCxnSpPr>
        <p:spPr>
          <a:xfrm xmlns:a="http://schemas.openxmlformats.org/drawingml/2006/main">
            <a:off x="6905625" y="2295525"/>
            <a:ext cx="0" cy="266700"/>
          </a:xfrm>
          <a:prstGeom xmlns:a="http://schemas.openxmlformats.org/drawingml/2006/main" prst="straightConnector1">
            <a:avLst/>
          </a:prstGeom>
          <a:ln xmlns:a="http://schemas.openxmlformats.org/drawingml/2006/main" w="19050">
            <a:solidFill>
              <a:srgbClr val="21A899"/>
            </a:solidFill>
            <a:tailEnd type="triangle" w="med" len="med"/>
          </a:ln>
        </p:spPr>
      </p:cxnSp>
      <p:cxnSp>
        <p:nvCxnSpPr>
          <p:cNvPr id="9" name="">
            <a:extLst xmlns:a="http://schemas.openxmlformats.org/drawingml/2006/main">
              <a:ext uri="{FF2B5EF4-FFF2-40B4-BE49-F238E27FC236}">
                <a16:creationId xmlns:a16="http://schemas.microsoft.com/office/drawing/2014/main" id="{2D63E673-44AA-41BD-8D8F-804920712459}"/>
              </a:ext>
            </a:extLst>
          </p:cNvPr>
          <p:cNvCxnSpPr>
            <a:stCxn xmlns:a="http://schemas.openxmlformats.org/drawingml/2006/main" id="5" idx="2"/>
            <a:endCxn xmlns:a="http://schemas.openxmlformats.org/drawingml/2006/main" id="6" idx="0"/>
          </p:cNvCxnSpPr>
          <p:nvPr/>
        </p:nvCxnSpPr>
        <p:spPr>
          <a:xfrm xmlns:a="http://schemas.openxmlformats.org/drawingml/2006/main">
            <a:off x="6905625" y="1552575"/>
            <a:ext cx="0" cy="266700"/>
          </a:xfrm>
          <a:prstGeom xmlns:a="http://schemas.openxmlformats.org/drawingml/2006/main" prst="straightConnector1">
            <a:avLst/>
          </a:prstGeom>
          <a:ln xmlns:a="http://schemas.openxmlformats.org/drawingml/2006/main" w="19050">
            <a:solidFill>
              <a:srgbClr val="21A899"/>
            </a:solidFill>
            <a:tailEnd type="triangle" w="med" len="med"/>
          </a:ln>
        </p:spPr>
      </p:cxnSp>
      <p:sp>
        <p:nvSpPr>
          <p:cNvPr id="13" name="">
            <a:extLst xmlns:a="http://schemas.openxmlformats.org/drawingml/2006/main">
              <a:ext uri="{FF2B5EF4-FFF2-40B4-BE49-F238E27FC236}">
                <a16:creationId xmlns:a16="http://schemas.microsoft.com/office/drawing/2014/main" id="{CD52961E-064C-4C85-8E70-CB1183128CE5}"/>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Setup calls subroutines</a:t>
            </a:r>
          </a:p>
        </p:txBody>
      </p:sp>
      <p:sp>
        <p:nvSpPr>
          <p:cNvPr id="2" name="">
            <a:extLst xmlns:a="http://schemas.openxmlformats.org/drawingml/2006/main">
              <a:ext uri="{FF2B5EF4-FFF2-40B4-BE49-F238E27FC236}">
                <a16:creationId xmlns:a16="http://schemas.microsoft.com/office/drawing/2014/main" id="{7F69B8A8-4B60-4C15-9BE6-A81EB6D69A74}"/>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Model code + simple setup flow</a:t>
            </a:r>
          </a:p>
        </p:txBody>
      </p:sp>
      <p:sp>
        <p:nvSpPr>
          <p:cNvPr id="3" name="">
            <a:extLst xmlns:a="http://schemas.openxmlformats.org/drawingml/2006/main">
              <a:ext uri="{FF2B5EF4-FFF2-40B4-BE49-F238E27FC236}">
                <a16:creationId xmlns:a16="http://schemas.microsoft.com/office/drawing/2014/main" id="{252E126D-7910-4ED6-B805-16F3B3A44779}"/>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D6E72CC0-9DC7-472D-98D9-04E51AFE964E}"/>
              </a:ext>
            </a:extLst>
          </p:cNvPr>
          <p:cNvSpPr>
            <a:spLocks xmlns:a="http://schemas.openxmlformats.org/drawingml/2006/main" noGrp="1"/>
          </p:cNvSpPr>
          <p:nvPr/>
        </p:nvSpPr>
        <p:spPr>
          <a:xfrm xmlns:a="http://schemas.openxmlformats.org/drawingml/2006/main">
            <a:off x="381000" y="1362075"/>
            <a:ext cx="4000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75A50"/>
                </a:solidFill>
                <a:latin typeface="Courier New"/>
                <a:ea typeface="Courier New"/>
                <a:cs typeface="Courier New"/>
              </a:defRPr>
            </a:defPPr>
          </a:lstStyle>
          <a:p xmlns:a="http://schemas.openxmlformats.org/drawingml/2006/main">
            <a:pPr>
              <a:defRPr sz="2025" b="0">
                <a:solidFill>
                  <a:srgbClr val="075A50"/>
                </a:solidFill>
                <a:latin typeface="Courier New"/>
                <a:ea typeface="Courier New"/>
                <a:cs typeface="Courier New"/>
              </a:defRPr>
            </a:pPr>
            <a:r>
              <a:rPr sz="2025" b="0">
                <a:solidFill>
                  <a:srgbClr val="075A50"/>
                </a:solidFill>
                <a:latin typeface="Courier New"/>
                <a:ea typeface="Courier New"/>
                <a:cs typeface="Courier New"/>
              </a:rPr>
              <a:t>  update-turtles</a:t>
            </a:r>
          </a:p>
          <a:p xmlns:a="http://schemas.openxmlformats.org/drawingml/2006/main">
            <a:pPr>
              <a:defRPr sz="2025" b="0">
                <a:solidFill>
                  <a:srgbClr val="075A50"/>
                </a:solidFill>
                <a:latin typeface="Courier New"/>
                <a:ea typeface="Courier New"/>
                <a:cs typeface="Courier New"/>
              </a:defRPr>
            </a:pPr>
            <a:r>
              <a:rPr sz="2025" b="0">
                <a:solidFill>
                  <a:srgbClr val="075A50"/>
                </a:solidFill>
                <a:latin typeface="Courier New"/>
                <a:ea typeface="Courier New"/>
                <a:cs typeface="Courier New"/>
              </a:rPr>
              <a:t>  update-globals</a:t>
            </a:r>
          </a:p>
          <a:p xmlns:a="http://schemas.openxmlformats.org/drawingml/2006/main">
            <a:pPr>
              <a:defRPr sz="2025" b="0">
                <a:solidFill>
                  <a:srgbClr val="075A50"/>
                </a:solidFill>
                <a:latin typeface="Courier New"/>
                <a:ea typeface="Courier New"/>
                <a:cs typeface="Courier New"/>
              </a:defRPr>
            </a:pPr>
            <a:r>
              <a:rPr sz="2025" b="0">
                <a:solidFill>
                  <a:srgbClr val="075A50"/>
                </a:solidFill>
                <a:latin typeface="Courier New"/>
                <a:ea typeface="Courier New"/>
                <a:cs typeface="Courier New"/>
              </a:rPr>
              <a:t>  reset-ticks</a:t>
            </a:r>
          </a:p>
          <a:p xmlns:a="http://schemas.openxmlformats.org/drawingml/2006/main">
            <a:pPr>
              <a:defRPr sz="2025" b="0">
                <a:solidFill>
                  <a:srgbClr val="075A50"/>
                </a:solidFill>
                <a:latin typeface="Courier New"/>
                <a:ea typeface="Courier New"/>
                <a:cs typeface="Courier New"/>
              </a:defRPr>
            </a:pPr>
            <a:r>
              <a:rPr sz="2025" b="0">
                <a:solidFill>
                  <a:srgbClr val="075A50"/>
                </a:solidFill>
                <a:latin typeface="Courier New"/>
                <a:ea typeface="Courier New"/>
                <a:cs typeface="Courier New"/>
              </a:rPr>
              <a:t>end</a:t>
            </a:r>
          </a:p>
        </p:txBody>
      </p:sp>
      <p:sp>
        <p:nvSpPr>
          <p:cNvPr id="5" name="">
            <a:extLst xmlns:a="http://schemas.openxmlformats.org/drawingml/2006/main">
              <a:ext uri="{FF2B5EF4-FFF2-40B4-BE49-F238E27FC236}">
                <a16:creationId xmlns:a16="http://schemas.microsoft.com/office/drawing/2014/main" id="{0D622723-E28B-46D0-BD0B-DA27D08BDAFC}"/>
              </a:ext>
            </a:extLst>
          </p:cNvPr>
          <p:cNvSpPr>
            <a:spLocks xmlns:a="http://schemas.openxmlformats.org/drawingml/2006/main" noGrp="1"/>
          </p:cNvSpPr>
          <p:nvPr/>
        </p:nvSpPr>
        <p:spPr>
          <a:xfrm xmlns:a="http://schemas.openxmlformats.org/drawingml/2006/main">
            <a:off x="5095875" y="1076325"/>
            <a:ext cx="3619500" cy="476250"/>
          </a:xfrm>
          <a:prstGeom xmlns:a="http://schemas.openxmlformats.org/drawingml/2006/main" prst="rect">
            <a:avLst/>
          </a:prstGeom>
          <a:solidFill xmlns:a="http://schemas.openxmlformats.org/drawingml/2006/main">
            <a:srgbClr val="F0F2FF"/>
          </a:solidFill>
          <a:ln xmlns:a="http://schemas.openxmlformats.org/drawingml/2006/main" w="12383">
            <a:solidFill>
              <a:srgbClr val="21A899"/>
            </a:solidFill>
          </a:ln>
        </p:spPr>
        <p:txBody>
          <a:bodyPr xmlns:a="http://schemas.openxmlformats.org/drawingml/2006/main" lIns="76200" tIns="76200" rIns="76200" bIns="76200" anchor="ctr"/>
          <a:lstStyle xmlns:a="http://schemas.openxmlformats.org/drawingml/2006/main">
            <a:defPPr algn="ctr">
              <a:defRPr sz="1575">
                <a:solidFill>
                  <a:srgbClr val="111111"/>
                </a:solidFill>
                <a:latin typeface="Arial"/>
                <a:ea typeface="Arial"/>
                <a:cs typeface="Arial"/>
              </a:defRPr>
            </a:defPPr>
          </a:lstStyle>
          <a:p xmlns:a="http://schemas.openxmlformats.org/drawingml/2006/main">
            <a:pPr algn="ctr">
              <a:defRPr sz="1575">
                <a:solidFill>
                  <a:srgbClr val="111111"/>
                </a:solidFill>
                <a:latin typeface="Arial"/>
                <a:ea typeface="Arial"/>
                <a:cs typeface="Arial"/>
              </a:defRPr>
            </a:pPr>
            <a:r>
              <a:rPr sz="1575">
                <a:solidFill>
                  <a:srgbClr val="111111"/>
                </a:solidFill>
                <a:latin typeface="Arial"/>
                <a:ea typeface="Arial"/>
                <a:cs typeface="Arial"/>
              </a:rPr>
              <a:t>Create initial population</a:t>
            </a:r>
          </a:p>
        </p:txBody>
      </p:sp>
      <p:sp>
        <p:nvSpPr>
          <p:cNvPr id="6" name="">
            <a:extLst xmlns:a="http://schemas.openxmlformats.org/drawingml/2006/main">
              <a:ext uri="{FF2B5EF4-FFF2-40B4-BE49-F238E27FC236}">
                <a16:creationId xmlns:a16="http://schemas.microsoft.com/office/drawing/2014/main" id="{F8BE4A83-D082-4220-88FB-FC943075A6B4}"/>
              </a:ext>
            </a:extLst>
          </p:cNvPr>
          <p:cNvSpPr>
            <a:spLocks xmlns:a="http://schemas.openxmlformats.org/drawingml/2006/main" noGrp="1"/>
          </p:cNvSpPr>
          <p:nvPr/>
        </p:nvSpPr>
        <p:spPr>
          <a:xfrm xmlns:a="http://schemas.openxmlformats.org/drawingml/2006/main">
            <a:off x="5095875" y="1819275"/>
            <a:ext cx="3619500" cy="476250"/>
          </a:xfrm>
          <a:prstGeom xmlns:a="http://schemas.openxmlformats.org/drawingml/2006/main" prst="rect">
            <a:avLst/>
          </a:prstGeom>
          <a:solidFill xmlns:a="http://schemas.openxmlformats.org/drawingml/2006/main">
            <a:srgbClr val="F0F2FF"/>
          </a:solidFill>
          <a:ln xmlns:a="http://schemas.openxmlformats.org/drawingml/2006/main" w="12383">
            <a:solidFill>
              <a:srgbClr val="21A899"/>
            </a:solidFill>
          </a:ln>
        </p:spPr>
        <p:txBody>
          <a:bodyPr xmlns:a="http://schemas.openxmlformats.org/drawingml/2006/main" lIns="76200" tIns="76200" rIns="76200" bIns="76200" anchor="ctr"/>
          <a:lstStyle xmlns:a="http://schemas.openxmlformats.org/drawingml/2006/main">
            <a:defPPr algn="ctr">
              <a:defRPr sz="1575">
                <a:solidFill>
                  <a:srgbClr val="111111"/>
                </a:solidFill>
                <a:latin typeface="Arial"/>
                <a:ea typeface="Arial"/>
                <a:cs typeface="Arial"/>
              </a:defRPr>
            </a:defPPr>
          </a:lstStyle>
          <a:p xmlns:a="http://schemas.openxmlformats.org/drawingml/2006/main">
            <a:pPr algn="ctr">
              <a:defRPr sz="1575">
                <a:solidFill>
                  <a:srgbClr val="111111"/>
                </a:solidFill>
                <a:latin typeface="Arial"/>
                <a:ea typeface="Arial"/>
                <a:cs typeface="Arial"/>
              </a:defRPr>
            </a:pPr>
            <a:r>
              <a:rPr sz="1575">
                <a:solidFill>
                  <a:srgbClr val="111111"/>
                </a:solidFill>
                <a:latin typeface="Arial"/>
                <a:ea typeface="Arial"/>
                <a:cs typeface="Arial"/>
              </a:rPr>
              <a:t>Update individual states</a:t>
            </a:r>
          </a:p>
        </p:txBody>
      </p:sp>
      <p:sp>
        <p:nvSpPr>
          <p:cNvPr id="7" name="">
            <a:extLst xmlns:a="http://schemas.openxmlformats.org/drawingml/2006/main">
              <a:ext uri="{FF2B5EF4-FFF2-40B4-BE49-F238E27FC236}">
                <a16:creationId xmlns:a16="http://schemas.microsoft.com/office/drawing/2014/main" id="{AE0559FB-ED4A-4C54-AC5F-56956D99D25C}"/>
              </a:ext>
            </a:extLst>
          </p:cNvPr>
          <p:cNvSpPr>
            <a:spLocks xmlns:a="http://schemas.openxmlformats.org/drawingml/2006/main" noGrp="1"/>
          </p:cNvSpPr>
          <p:nvPr/>
        </p:nvSpPr>
        <p:spPr>
          <a:xfrm xmlns:a="http://schemas.openxmlformats.org/drawingml/2006/main">
            <a:off x="5095875" y="2562225"/>
            <a:ext cx="3619500" cy="476250"/>
          </a:xfrm>
          <a:prstGeom xmlns:a="http://schemas.openxmlformats.org/drawingml/2006/main" prst="rect">
            <a:avLst/>
          </a:prstGeom>
          <a:solidFill xmlns:a="http://schemas.openxmlformats.org/drawingml/2006/main">
            <a:srgbClr val="F0F2FF"/>
          </a:solidFill>
          <a:ln xmlns:a="http://schemas.openxmlformats.org/drawingml/2006/main" w="12383">
            <a:solidFill>
              <a:srgbClr val="21A899"/>
            </a:solidFill>
          </a:ln>
        </p:spPr>
        <p:txBody>
          <a:bodyPr xmlns:a="http://schemas.openxmlformats.org/drawingml/2006/main" lIns="76200" tIns="76200" rIns="76200" bIns="76200" anchor="ctr"/>
          <a:lstStyle xmlns:a="http://schemas.openxmlformats.org/drawingml/2006/main">
            <a:defPPr algn="ctr">
              <a:defRPr sz="1575">
                <a:solidFill>
                  <a:srgbClr val="111111"/>
                </a:solidFill>
                <a:latin typeface="Arial"/>
                <a:ea typeface="Arial"/>
                <a:cs typeface="Arial"/>
              </a:defRPr>
            </a:defPPr>
          </a:lstStyle>
          <a:p xmlns:a="http://schemas.openxmlformats.org/drawingml/2006/main">
            <a:pPr algn="ctr">
              <a:defRPr sz="1575">
                <a:solidFill>
                  <a:srgbClr val="111111"/>
                </a:solidFill>
                <a:latin typeface="Arial"/>
                <a:ea typeface="Arial"/>
                <a:cs typeface="Arial"/>
              </a:defRPr>
            </a:pPr>
            <a:r>
              <a:rPr sz="1575">
                <a:solidFill>
                  <a:srgbClr val="111111"/>
                </a:solidFill>
                <a:latin typeface="Arial"/>
                <a:ea typeface="Arial"/>
                <a:cs typeface="Arial"/>
              </a:rPr>
              <a:t>Update collective measures</a:t>
            </a:r>
          </a:p>
        </p:txBody>
      </p:sp>
      <p:sp>
        <p:nvSpPr>
          <p:cNvPr id="8" name="">
            <a:extLst xmlns:a="http://schemas.openxmlformats.org/drawingml/2006/main">
              <a:ext uri="{FF2B5EF4-FFF2-40B4-BE49-F238E27FC236}">
                <a16:creationId xmlns:a16="http://schemas.microsoft.com/office/drawing/2014/main" id="{C0BDBC92-72FE-43E6-9B93-9F0254C56E51}"/>
              </a:ext>
            </a:extLst>
          </p:cNvPr>
          <p:cNvSpPr>
            <a:spLocks xmlns:a="http://schemas.openxmlformats.org/drawingml/2006/main" noGrp="1"/>
          </p:cNvSpPr>
          <p:nvPr/>
        </p:nvSpPr>
        <p:spPr>
          <a:xfrm xmlns:a="http://schemas.openxmlformats.org/drawingml/2006/main">
            <a:off x="5095875" y="3305175"/>
            <a:ext cx="3619500" cy="476250"/>
          </a:xfrm>
          <a:prstGeom xmlns:a="http://schemas.openxmlformats.org/drawingml/2006/main" prst="rect">
            <a:avLst/>
          </a:prstGeom>
          <a:solidFill xmlns:a="http://schemas.openxmlformats.org/drawingml/2006/main">
            <a:srgbClr val="F0F2FF"/>
          </a:solidFill>
          <a:ln xmlns:a="http://schemas.openxmlformats.org/drawingml/2006/main" w="12383">
            <a:solidFill>
              <a:srgbClr val="21A899"/>
            </a:solidFill>
          </a:ln>
        </p:spPr>
        <p:txBody>
          <a:bodyPr xmlns:a="http://schemas.openxmlformats.org/drawingml/2006/main" lIns="76200" tIns="76200" rIns="76200" bIns="76200" anchor="ctr"/>
          <a:lstStyle xmlns:a="http://schemas.openxmlformats.org/drawingml/2006/main">
            <a:defPPr algn="ctr">
              <a:defRPr sz="1575">
                <a:solidFill>
                  <a:srgbClr val="111111"/>
                </a:solidFill>
                <a:latin typeface="Arial"/>
                <a:ea typeface="Arial"/>
                <a:cs typeface="Arial"/>
              </a:defRPr>
            </a:defPPr>
          </a:lstStyle>
          <a:p xmlns:a="http://schemas.openxmlformats.org/drawingml/2006/main">
            <a:pPr algn="ctr">
              <a:defRPr sz="1575">
                <a:solidFill>
                  <a:srgbClr val="111111"/>
                </a:solidFill>
                <a:latin typeface="Arial"/>
                <a:ea typeface="Arial"/>
                <a:cs typeface="Arial"/>
              </a:defRPr>
            </a:pPr>
            <a:r>
              <a:rPr sz="1575">
                <a:solidFill>
                  <a:srgbClr val="111111"/>
                </a:solidFill>
                <a:latin typeface="Arial"/>
                <a:ea typeface="Arial"/>
                <a:cs typeface="Arial"/>
              </a:rPr>
              <a:t>Initialize CLOCK: reset-ticks</a:t>
            </a:r>
          </a:p>
        </p:txBody>
      </p:sp>
      <p:sp>
        <p:nvSpPr>
          <p:cNvPr id="12" name="">
            <a:extLst xmlns:a="http://schemas.openxmlformats.org/drawingml/2006/main">
              <a:ext uri="{FF2B5EF4-FFF2-40B4-BE49-F238E27FC236}">
                <a16:creationId xmlns:a16="http://schemas.microsoft.com/office/drawing/2014/main" id="{98E57F48-04C0-4D86-A769-EA213113942B}"/>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Some initial states are assigned. Others must be calculated.</a:t>
            </a:r>
          </a:p>
        </p:txBody>
      </p:sp>
    </p:spTree>
    <p:extLst>
      <p:ext uri="{BB962C8B-B14F-4D97-AF65-F5344CB8AC3E}">
        <p14:creationId xmlns:p14="http://schemas.microsoft.com/office/powerpoint/2010/main" val="903892750"/>
      </p:ext>
    </p:extLst>
  </p:cSld>
</p:sld>
</file>

<file path=ppt/slides/slide13.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8610FB-B357-48F6-8F98-C6B522D1FB46}"/>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GO: sequence and CLOCK</a:t>
            </a:r>
          </a:p>
        </p:txBody>
      </p:sp>
      <p:sp>
        <p:nvSpPr>
          <p:cNvPr id="2" name="">
            <a:extLst xmlns:a="http://schemas.openxmlformats.org/drawingml/2006/main">
              <a:ext uri="{FF2B5EF4-FFF2-40B4-BE49-F238E27FC236}">
                <a16:creationId xmlns:a16="http://schemas.microsoft.com/office/drawing/2014/main" id="{26145EEA-9720-4786-806C-92B04B148248}"/>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Model code</a:t>
            </a:r>
          </a:p>
        </p:txBody>
      </p:sp>
      <p:sp>
        <p:nvSpPr>
          <p:cNvPr id="3" name="">
            <a:extLst xmlns:a="http://schemas.openxmlformats.org/drawingml/2006/main">
              <a:ext uri="{FF2B5EF4-FFF2-40B4-BE49-F238E27FC236}">
                <a16:creationId xmlns:a16="http://schemas.microsoft.com/office/drawing/2014/main" id="{C3F7A91B-75FB-4012-9679-99C157F40260}"/>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19CD8298-155F-4241-99D1-CBF5595C925B}"/>
              </a:ext>
            </a:extLst>
          </p:cNvPr>
          <p:cNvSpPr>
            <a:spLocks xmlns:a="http://schemas.openxmlformats.org/drawingml/2006/main" noGrp="1"/>
          </p:cNvSpPr>
          <p:nvPr/>
        </p:nvSpPr>
        <p:spPr>
          <a:xfrm xmlns:a="http://schemas.openxmlformats.org/drawingml/2006/main">
            <a:off x="381000" y="1190625"/>
            <a:ext cx="81915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75A50"/>
                </a:solidFill>
                <a:latin typeface="Courier New"/>
                <a:ea typeface="Courier New"/>
                <a:cs typeface="Courier New"/>
              </a:defRPr>
            </a:defPPr>
          </a:lstStyle>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to go</a:t>
            </a:r>
          </a:p>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  if all? turtles [ happy? ] [ stop ]</a:t>
            </a:r>
          </a:p>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  move-unhappy-turtles</a:t>
            </a:r>
          </a:p>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  update-turtles</a:t>
            </a:r>
          </a:p>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  update-globals</a:t>
            </a:r>
          </a:p>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  tick</a:t>
            </a:r>
          </a:p>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end</a:t>
            </a:r>
          </a:p>
        </p:txBody>
      </p:sp>
      <p:sp>
        <p:nvSpPr>
          <p:cNvPr id="5" name="">
            <a:extLst xmlns:a="http://schemas.openxmlformats.org/drawingml/2006/main">
              <a:ext uri="{FF2B5EF4-FFF2-40B4-BE49-F238E27FC236}">
                <a16:creationId xmlns:a16="http://schemas.microsoft.com/office/drawing/2014/main" id="{676B1171-A30A-4245-80DA-AF0801440170}"/>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The next GO call checks the happiness updated in this cycle.</a:t>
            </a:r>
          </a:p>
        </p:txBody>
      </p:sp>
    </p:spTree>
    <p:extLst>
      <p:ext uri="{BB962C8B-B14F-4D97-AF65-F5344CB8AC3E}">
        <p14:creationId xmlns:p14="http://schemas.microsoft.com/office/powerpoint/2010/main" val="1540701462"/>
      </p:ext>
    </p:extLst>
  </p:cSld>
</p:sld>
</file>

<file path=ppt/slides/slide14.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8B93DE15-629C-45DE-8CE4-A5F5DC6D29FF}"/>
              </a:ext>
            </a:extLst>
          </p:cNvPr>
          <p:cNvCxnSpPr>
            <a:stCxn xmlns:a="http://schemas.openxmlformats.org/drawingml/2006/main" id="12" idx="2"/>
            <a:endCxn xmlns:a="http://schemas.openxmlformats.org/drawingml/2006/main" id="13" idx="0"/>
          </p:cNvCxnSpPr>
          <p:nvPr/>
        </p:nvCxnSpPr>
        <p:spPr>
          <a:xfrm xmlns:a="http://schemas.openxmlformats.org/drawingml/2006/main">
            <a:off x="6619875" y="2990850"/>
            <a:ext cx="0" cy="285750"/>
          </a:xfrm>
          <a:prstGeom xmlns:a="http://schemas.openxmlformats.org/drawingml/2006/main" prst="straightConnector1">
            <a:avLst/>
          </a:prstGeom>
          <a:ln xmlns:a="http://schemas.openxmlformats.org/drawingml/2006/main" w="19050">
            <a:solidFill>
              <a:srgbClr val="21A899"/>
            </a:solidFill>
            <a:tailEnd type="triangle" w="med" len="med"/>
          </a:ln>
        </p:spPr>
      </p:cxnSp>
      <p:cxnSp>
        <p:nvCxnSpPr>
          <p:cNvPr id="17" name="">
            <a:extLst xmlns:a="http://schemas.openxmlformats.org/drawingml/2006/main">
              <a:ext uri="{FF2B5EF4-FFF2-40B4-BE49-F238E27FC236}">
                <a16:creationId xmlns:a16="http://schemas.microsoft.com/office/drawing/2014/main" id="{26D5405A-4504-4545-87FD-96E86817D586}"/>
              </a:ext>
            </a:extLst>
          </p:cNvPr>
          <p:cNvCxnSpPr>
            <a:stCxn xmlns:a="http://schemas.openxmlformats.org/drawingml/2006/main" id="11" idx="2"/>
            <a:endCxn xmlns:a="http://schemas.openxmlformats.org/drawingml/2006/main" id="12" idx="0"/>
          </p:cNvCxnSpPr>
          <p:nvPr/>
        </p:nvCxnSpPr>
        <p:spPr>
          <a:xfrm xmlns:a="http://schemas.openxmlformats.org/drawingml/2006/main">
            <a:off x="6619875" y="2238375"/>
            <a:ext cx="0" cy="285750"/>
          </a:xfrm>
          <a:prstGeom xmlns:a="http://schemas.openxmlformats.org/drawingml/2006/main" prst="straightConnector1">
            <a:avLst/>
          </a:prstGeom>
          <a:ln xmlns:a="http://schemas.openxmlformats.org/drawingml/2006/main" w="19050">
            <a:solidFill>
              <a:srgbClr val="21A899"/>
            </a:solidFill>
            <a:tailEnd type="triangle" w="med" len="med"/>
          </a:ln>
        </p:spPr>
      </p:cxnSp>
      <p:cxnSp>
        <p:nvCxnSpPr>
          <p:cNvPr id="16" name="">
            <a:extLst xmlns:a="http://schemas.openxmlformats.org/drawingml/2006/main">
              <a:ext uri="{FF2B5EF4-FFF2-40B4-BE49-F238E27FC236}">
                <a16:creationId xmlns:a16="http://schemas.microsoft.com/office/drawing/2014/main" id="{3D09ED9F-F96F-4F49-9408-B28E9D1645DA}"/>
              </a:ext>
            </a:extLst>
          </p:cNvPr>
          <p:cNvCxnSpPr>
            <a:stCxn xmlns:a="http://schemas.openxmlformats.org/drawingml/2006/main" id="10" idx="2"/>
            <a:endCxn xmlns:a="http://schemas.openxmlformats.org/drawingml/2006/main" id="11" idx="0"/>
          </p:cNvCxnSpPr>
          <p:nvPr/>
        </p:nvCxnSpPr>
        <p:spPr>
          <a:xfrm xmlns:a="http://schemas.openxmlformats.org/drawingml/2006/main">
            <a:off x="6619875" y="1485900"/>
            <a:ext cx="0" cy="285750"/>
          </a:xfrm>
          <a:prstGeom xmlns:a="http://schemas.openxmlformats.org/drawingml/2006/main" prst="straightConnector1">
            <a:avLst/>
          </a:prstGeom>
          <a:ln xmlns:a="http://schemas.openxmlformats.org/drawingml/2006/main" w="19050">
            <a:solidFill>
              <a:srgbClr val="21A899"/>
            </a:solidFill>
            <a:tailEnd type="triangle" w="med" len="med"/>
          </a:ln>
        </p:spPr>
      </p:cxnSp>
      <p:cxnSp>
        <p:nvCxnSpPr>
          <p:cNvPr id="14" name="">
            <a:extLst xmlns:a="http://schemas.openxmlformats.org/drawingml/2006/main">
              <a:ext uri="{FF2B5EF4-FFF2-40B4-BE49-F238E27FC236}">
                <a16:creationId xmlns:a16="http://schemas.microsoft.com/office/drawing/2014/main" id="{B35EEEA0-AF1A-48BD-899E-7CCE7DBEC03A}"/>
              </a:ext>
            </a:extLst>
          </p:cNvPr>
          <p:cNvCxnSpPr>
            <a:stCxn xmlns:a="http://schemas.openxmlformats.org/drawingml/2006/main" id="5" idx="3"/>
            <a:endCxn xmlns:a="http://schemas.openxmlformats.org/drawingml/2006/main" id="10" idx="1"/>
          </p:cNvCxnSpPr>
          <p:nvPr/>
        </p:nvCxnSpPr>
        <p:spPr>
          <a:xfrm xmlns:a="http://schemas.openxmlformats.org/drawingml/2006/main" flipV="1">
            <a:off x="2286000" y="1252538"/>
            <a:ext cx="2333625" cy="1200150"/>
          </a:xfrm>
          <a:prstGeom xmlns:a="http://schemas.openxmlformats.org/drawingml/2006/main" prst="bentConnector3">
            <a:avLst>
              <a:gd name="adj1" fmla="val 90204"/>
            </a:avLst>
          </a:prstGeom>
          <a:ln xmlns:a="http://schemas.openxmlformats.org/drawingml/2006/main" w="19050">
            <a:solidFill>
              <a:srgbClr val="21A899"/>
            </a:solidFill>
            <a:tailEnd type="triangle" w="med" len="med"/>
          </a:ln>
        </p:spPr>
      </p:cxnSp>
      <p:cxnSp>
        <p:nvCxnSpPr>
          <p:cNvPr id="8" name="">
            <a:extLst xmlns:a="http://schemas.openxmlformats.org/drawingml/2006/main">
              <a:ext uri="{FF2B5EF4-FFF2-40B4-BE49-F238E27FC236}">
                <a16:creationId xmlns:a16="http://schemas.microsoft.com/office/drawing/2014/main" id="{3F38D3C6-EBC1-4836-B6D5-E60FC7FC7247}"/>
              </a:ext>
            </a:extLst>
          </p:cNvPr>
          <p:cNvCxnSpPr>
            <a:stCxn xmlns:a="http://schemas.openxmlformats.org/drawingml/2006/main" id="5" idx="2"/>
            <a:endCxn xmlns:a="http://schemas.openxmlformats.org/drawingml/2006/main" id="6" idx="0"/>
          </p:cNvCxnSpPr>
          <p:nvPr/>
        </p:nvCxnSpPr>
        <p:spPr>
          <a:xfrm xmlns:a="http://schemas.openxmlformats.org/drawingml/2006/main">
            <a:off x="1309688" y="2905125"/>
            <a:ext cx="23813" cy="657225"/>
          </a:xfrm>
          <a:prstGeom xmlns:a="http://schemas.openxmlformats.org/drawingml/2006/main" prst="straightConnector1">
            <a:avLst/>
          </a:prstGeom>
          <a:ln xmlns:a="http://schemas.openxmlformats.org/drawingml/2006/main" w="19050">
            <a:solidFill>
              <a:srgbClr val="21A899"/>
            </a:solidFill>
            <a:tailEnd type="triangle" w="med" len="med"/>
          </a:ln>
        </p:spPr>
      </p:cxnSp>
      <p:cxnSp>
        <p:nvCxnSpPr>
          <p:cNvPr id="7" name="">
            <a:extLst xmlns:a="http://schemas.openxmlformats.org/drawingml/2006/main">
              <a:ext uri="{FF2B5EF4-FFF2-40B4-BE49-F238E27FC236}">
                <a16:creationId xmlns:a16="http://schemas.microsoft.com/office/drawing/2014/main" id="{6F2C91DB-4CF0-46C1-BA39-6D63C4605B8F}"/>
              </a:ext>
            </a:extLst>
          </p:cNvPr>
          <p:cNvCxnSpPr>
            <a:stCxn xmlns:a="http://schemas.openxmlformats.org/drawingml/2006/main" id="4" idx="2"/>
            <a:endCxn xmlns:a="http://schemas.openxmlformats.org/drawingml/2006/main" id="5" idx="0"/>
          </p:cNvCxnSpPr>
          <p:nvPr/>
        </p:nvCxnSpPr>
        <p:spPr>
          <a:xfrm xmlns:a="http://schemas.openxmlformats.org/drawingml/2006/main">
            <a:off x="1309688" y="1419225"/>
            <a:ext cx="0" cy="581025"/>
          </a:xfrm>
          <a:prstGeom xmlns:a="http://schemas.openxmlformats.org/drawingml/2006/main" prst="straightConnector1">
            <a:avLst/>
          </a:prstGeom>
          <a:ln xmlns:a="http://schemas.openxmlformats.org/drawingml/2006/main" w="19050">
            <a:solidFill>
              <a:srgbClr val="21A899"/>
            </a:solidFill>
            <a:tailEnd type="triangle" w="med" len="med"/>
          </a:ln>
        </p:spPr>
      </p:cxnSp>
      <p:sp>
        <p:nvSpPr>
          <p:cNvPr id="20" name="">
            <a:extLst xmlns:a="http://schemas.openxmlformats.org/drawingml/2006/main">
              <a:ext uri="{FF2B5EF4-FFF2-40B4-BE49-F238E27FC236}">
                <a16:creationId xmlns:a16="http://schemas.microsoft.com/office/drawing/2014/main" id="{311072A8-AC5C-4847-8F9F-6040B1B3F9F5}"/>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Initial flowchart of GO</a:t>
            </a:r>
          </a:p>
        </p:txBody>
      </p:sp>
      <p:sp>
        <p:nvSpPr>
          <p:cNvPr id="2" name="">
            <a:extLst xmlns:a="http://schemas.openxmlformats.org/drawingml/2006/main">
              <a:ext uri="{FF2B5EF4-FFF2-40B4-BE49-F238E27FC236}">
                <a16:creationId xmlns:a16="http://schemas.microsoft.com/office/drawing/2014/main" id="{B127AD4E-027B-4BA0-8081-0C86542FAE6C}"/>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Teaching diagram from model code</a:t>
            </a:r>
          </a:p>
        </p:txBody>
      </p:sp>
      <p:sp>
        <p:nvSpPr>
          <p:cNvPr id="3" name="">
            <a:extLst xmlns:a="http://schemas.openxmlformats.org/drawingml/2006/main">
              <a:ext uri="{FF2B5EF4-FFF2-40B4-BE49-F238E27FC236}">
                <a16:creationId xmlns:a16="http://schemas.microsoft.com/office/drawing/2014/main" id="{10EDAA41-2D49-422A-A7AC-F281BB5965C5}"/>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9D2E581F-AC5A-47F1-8849-5E67000DA8A3}"/>
              </a:ext>
            </a:extLst>
          </p:cNvPr>
          <p:cNvSpPr>
            <a:spLocks xmlns:a="http://schemas.openxmlformats.org/drawingml/2006/main" noGrp="1"/>
          </p:cNvSpPr>
          <p:nvPr/>
        </p:nvSpPr>
        <p:spPr>
          <a:xfrm xmlns:a="http://schemas.openxmlformats.org/drawingml/2006/main">
            <a:off x="428625" y="1000125"/>
            <a:ext cx="1762125" cy="419100"/>
          </a:xfrm>
          <a:prstGeom xmlns:a="http://schemas.openxmlformats.org/drawingml/2006/main" prst="roundRect">
            <a:avLst>
              <a:gd name="adj" fmla="val 18182"/>
            </a:avLst>
          </a:prstGeom>
          <a:solidFill xmlns:a="http://schemas.openxmlformats.org/drawingml/2006/main">
            <a:srgbClr val="EEF8F0"/>
          </a:solidFill>
          <a:ln xmlns:a="http://schemas.openxmlformats.org/drawingml/2006/main" w="12383">
            <a:solidFill>
              <a:srgbClr val="21A899"/>
            </a:solidFill>
          </a:ln>
        </p:spPr>
        <p:txBody>
          <a:bodyPr xmlns:a="http://schemas.openxmlformats.org/drawingml/2006/main" lIns="76200" tIns="76200" rIns="76200" bIns="76200" anchor="ctr"/>
          <a:lstStyle xmlns:a="http://schemas.openxmlformats.org/drawingml/2006/main">
            <a:defPPr algn="ctr">
              <a:defRPr sz="1500">
                <a:solidFill>
                  <a:srgbClr val="111111"/>
                </a:solidFill>
                <a:latin typeface="Arial"/>
                <a:ea typeface="Arial"/>
                <a:cs typeface="Arial"/>
              </a:defRPr>
            </a:defPPr>
          </a:lstStyle>
          <a:p xmlns:a="http://schemas.openxmlformats.org/drawingml/2006/main">
            <a:pPr algn="ctr">
              <a:defRPr sz="1500">
                <a:solidFill>
                  <a:srgbClr val="111111"/>
                </a:solidFill>
                <a:latin typeface="Arial"/>
                <a:ea typeface="Arial"/>
                <a:cs typeface="Arial"/>
              </a:defRPr>
            </a:pPr>
            <a:r>
              <a:rPr sz="1500">
                <a:solidFill>
                  <a:srgbClr val="111111"/>
                </a:solidFill>
                <a:latin typeface="Arial"/>
                <a:ea typeface="Arial"/>
                <a:cs typeface="Arial"/>
              </a:rPr>
              <a:t>GO</a:t>
            </a:r>
          </a:p>
        </p:txBody>
      </p:sp>
      <p:sp>
        <p:nvSpPr>
          <p:cNvPr id="5" name="">
            <a:extLst xmlns:a="http://schemas.openxmlformats.org/drawingml/2006/main">
              <a:ext uri="{FF2B5EF4-FFF2-40B4-BE49-F238E27FC236}">
                <a16:creationId xmlns:a16="http://schemas.microsoft.com/office/drawing/2014/main" id="{5A1E864E-D2E7-4A35-95DF-540F7A0D1330}"/>
              </a:ext>
            </a:extLst>
          </p:cNvPr>
          <p:cNvSpPr>
            <a:spLocks xmlns:a="http://schemas.openxmlformats.org/drawingml/2006/main" noGrp="1"/>
          </p:cNvSpPr>
          <p:nvPr/>
        </p:nvSpPr>
        <p:spPr>
          <a:xfrm xmlns:a="http://schemas.openxmlformats.org/drawingml/2006/main">
            <a:off x="333375" y="2000250"/>
            <a:ext cx="1952625" cy="904875"/>
          </a:xfrm>
          <a:prstGeom xmlns:a="http://schemas.openxmlformats.org/drawingml/2006/main" prst="diamond">
            <a:avLst/>
          </a:prstGeom>
          <a:solidFill xmlns:a="http://schemas.openxmlformats.org/drawingml/2006/main">
            <a:srgbClr val="FFF0F0"/>
          </a:solidFill>
          <a:ln xmlns:a="http://schemas.openxmlformats.org/drawingml/2006/main" w="12383">
            <a:solidFill>
              <a:srgbClr val="EF1616"/>
            </a:solidFill>
          </a:ln>
        </p:spPr>
        <p:txBody>
          <a:bodyPr xmlns:a="http://schemas.openxmlformats.org/drawingml/2006/main" lIns="76200" tIns="76200" rIns="76200" bIns="76200" anchor="ctr"/>
          <a:lstStyle xmlns:a="http://schemas.openxmlformats.org/drawingml/2006/main">
            <a:defPPr algn="ctr">
              <a:defRPr sz="1500">
                <a:solidFill>
                  <a:srgbClr val="111111"/>
                </a:solidFill>
                <a:latin typeface="Arial"/>
                <a:ea typeface="Arial"/>
                <a:cs typeface="Arial"/>
              </a:defRPr>
            </a:defPPr>
          </a:lstStyle>
          <a:p xmlns:a="http://schemas.openxmlformats.org/drawingml/2006/main">
            <a:pPr algn="ctr">
              <a:defRPr sz="1500">
                <a:solidFill>
                  <a:srgbClr val="111111"/>
                </a:solidFill>
                <a:latin typeface="Arial"/>
                <a:ea typeface="Arial"/>
                <a:cs typeface="Arial"/>
              </a:defRPr>
            </a:pPr>
            <a:r>
              <a:rPr sz="1500">
                <a:solidFill>
                  <a:srgbClr val="111111"/>
                </a:solidFill>
                <a:latin typeface="Arial"/>
                <a:ea typeface="Arial"/>
                <a:cs typeface="Arial"/>
              </a:rPr>
              <a:t>All turtles</a:t>
            </a:r>
          </a:p>
          <a:p xmlns:a="http://schemas.openxmlformats.org/drawingml/2006/main">
            <a:pPr algn="ctr">
              <a:defRPr sz="1500">
                <a:solidFill>
                  <a:srgbClr val="111111"/>
                </a:solidFill>
                <a:latin typeface="Arial"/>
                <a:ea typeface="Arial"/>
                <a:cs typeface="Arial"/>
              </a:defRPr>
            </a:pPr>
            <a:r>
              <a:rPr sz="1500">
                <a:solidFill>
                  <a:srgbClr val="111111"/>
                </a:solidFill>
                <a:latin typeface="Arial"/>
                <a:ea typeface="Arial"/>
                <a:cs typeface="Arial"/>
              </a:rPr>
              <a:t>happy?</a:t>
            </a:r>
          </a:p>
        </p:txBody>
      </p:sp>
      <p:sp>
        <p:nvSpPr>
          <p:cNvPr id="6" name="">
            <a:extLst xmlns:a="http://schemas.openxmlformats.org/drawingml/2006/main">
              <a:ext uri="{FF2B5EF4-FFF2-40B4-BE49-F238E27FC236}">
                <a16:creationId xmlns:a16="http://schemas.microsoft.com/office/drawing/2014/main" id="{E9A969A2-8E96-446F-ADA3-722C4BFA8618}"/>
              </a:ext>
            </a:extLst>
          </p:cNvPr>
          <p:cNvSpPr>
            <a:spLocks xmlns:a="http://schemas.openxmlformats.org/drawingml/2006/main" noGrp="1"/>
          </p:cNvSpPr>
          <p:nvPr/>
        </p:nvSpPr>
        <p:spPr>
          <a:xfrm xmlns:a="http://schemas.openxmlformats.org/drawingml/2006/main">
            <a:off x="476250" y="3562350"/>
            <a:ext cx="1714500" cy="419100"/>
          </a:xfrm>
          <a:prstGeom xmlns:a="http://schemas.openxmlformats.org/drawingml/2006/main" prst="roundRect">
            <a:avLst>
              <a:gd name="adj" fmla="val 18182"/>
            </a:avLst>
          </a:prstGeom>
          <a:solidFill xmlns:a="http://schemas.openxmlformats.org/drawingml/2006/main">
            <a:srgbClr val="EEF8F0"/>
          </a:solidFill>
          <a:ln xmlns:a="http://schemas.openxmlformats.org/drawingml/2006/main" w="12383">
            <a:solidFill>
              <a:srgbClr val="21A899"/>
            </a:solidFill>
          </a:ln>
        </p:spPr>
        <p:txBody>
          <a:bodyPr xmlns:a="http://schemas.openxmlformats.org/drawingml/2006/main" lIns="76200" tIns="76200" rIns="76200" bIns="76200" anchor="ctr"/>
          <a:lstStyle xmlns:a="http://schemas.openxmlformats.org/drawingml/2006/main">
            <a:defPPr algn="ctr">
              <a:defRPr sz="1500">
                <a:solidFill>
                  <a:srgbClr val="111111"/>
                </a:solidFill>
                <a:latin typeface="Arial"/>
                <a:ea typeface="Arial"/>
                <a:cs typeface="Arial"/>
              </a:defRPr>
            </a:defPPr>
          </a:lstStyle>
          <a:p xmlns:a="http://schemas.openxmlformats.org/drawingml/2006/main">
            <a:pPr algn="ctr">
              <a:defRPr sz="1500">
                <a:solidFill>
                  <a:srgbClr val="111111"/>
                </a:solidFill>
                <a:latin typeface="Arial"/>
                <a:ea typeface="Arial"/>
                <a:cs typeface="Arial"/>
              </a:defRPr>
            </a:pPr>
            <a:r>
              <a:rPr sz="1500">
                <a:solidFill>
                  <a:srgbClr val="111111"/>
                </a:solidFill>
                <a:latin typeface="Arial"/>
                <a:ea typeface="Arial"/>
                <a:cs typeface="Arial"/>
              </a:rPr>
              <a:t>Stop</a:t>
            </a:r>
          </a:p>
        </p:txBody>
      </p:sp>
      <p:sp>
        <p:nvSpPr>
          <p:cNvPr id="9" name="">
            <a:extLst xmlns:a="http://schemas.openxmlformats.org/drawingml/2006/main">
              <a:ext uri="{FF2B5EF4-FFF2-40B4-BE49-F238E27FC236}">
                <a16:creationId xmlns:a16="http://schemas.microsoft.com/office/drawing/2014/main" id="{4766D34C-A1D6-4950-80E3-0C497918A179}"/>
              </a:ext>
            </a:extLst>
          </p:cNvPr>
          <p:cNvSpPr>
            <a:spLocks xmlns:a="http://schemas.openxmlformats.org/drawingml/2006/main" noGrp="1"/>
          </p:cNvSpPr>
          <p:nvPr/>
        </p:nvSpPr>
        <p:spPr>
          <a:xfrm xmlns:a="http://schemas.openxmlformats.org/drawingml/2006/main">
            <a:off x="2381250" y="33718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111111"/>
                </a:solidFill>
                <a:latin typeface="Arial"/>
                <a:ea typeface="Arial"/>
                <a:cs typeface="Arial"/>
              </a:defRPr>
            </a:defPPr>
          </a:lstStyle>
          <a:p xmlns:a="http://schemas.openxmlformats.org/drawingml/2006/main">
            <a:pPr>
              <a:defRPr sz="1350" b="0">
                <a:solidFill>
                  <a:srgbClr val="111111"/>
                </a:solidFill>
                <a:latin typeface="Arial"/>
                <a:ea typeface="Arial"/>
                <a:cs typeface="Arial"/>
              </a:defRPr>
            </a:pPr>
            <a:r>
              <a:rPr sz="1350" b="0">
                <a:solidFill>
                  <a:srgbClr val="111111"/>
                </a:solidFill>
                <a:latin typeface="Arial"/>
                <a:ea typeface="Arial"/>
                <a:cs typeface="Arial"/>
              </a:rPr>
              <a:t>Yes</a:t>
            </a:r>
          </a:p>
        </p:txBody>
      </p:sp>
      <p:sp>
        <p:nvSpPr>
          <p:cNvPr id="10" name="">
            <a:extLst xmlns:a="http://schemas.openxmlformats.org/drawingml/2006/main">
              <a:ext uri="{FF2B5EF4-FFF2-40B4-BE49-F238E27FC236}">
                <a16:creationId xmlns:a16="http://schemas.microsoft.com/office/drawing/2014/main" id="{6EDEBA2E-2C64-4F8D-AEDB-0FE2C120597A}"/>
              </a:ext>
            </a:extLst>
          </p:cNvPr>
          <p:cNvSpPr>
            <a:spLocks xmlns:a="http://schemas.openxmlformats.org/drawingml/2006/main" noGrp="1"/>
          </p:cNvSpPr>
          <p:nvPr/>
        </p:nvSpPr>
        <p:spPr>
          <a:xfrm xmlns:a="http://schemas.openxmlformats.org/drawingml/2006/main">
            <a:off x="4619625" y="1019175"/>
            <a:ext cx="4000500" cy="466725"/>
          </a:xfrm>
          <a:prstGeom xmlns:a="http://schemas.openxmlformats.org/drawingml/2006/main" prst="rect">
            <a:avLst/>
          </a:prstGeom>
          <a:solidFill xmlns:a="http://schemas.openxmlformats.org/drawingml/2006/main">
            <a:srgbClr val="F0F2FF"/>
          </a:solidFill>
          <a:ln xmlns:a="http://schemas.openxmlformats.org/drawingml/2006/main" w="12383">
            <a:solidFill>
              <a:srgbClr val="21A899"/>
            </a:solidFill>
          </a:ln>
        </p:spPr>
        <p:txBody>
          <a:bodyPr xmlns:a="http://schemas.openxmlformats.org/drawingml/2006/main" lIns="76200" tIns="76200" rIns="76200" bIns="76200" anchor="ctr"/>
          <a:lstStyle xmlns:a="http://schemas.openxmlformats.org/drawingml/2006/main">
            <a:defPPr algn="ctr">
              <a:defRPr sz="1575">
                <a:solidFill>
                  <a:srgbClr val="111111"/>
                </a:solidFill>
                <a:latin typeface="Arial"/>
                <a:ea typeface="Arial"/>
                <a:cs typeface="Arial"/>
              </a:defRPr>
            </a:defPPr>
          </a:lstStyle>
          <a:p xmlns:a="http://schemas.openxmlformats.org/drawingml/2006/main">
            <a:pPr algn="ctr">
              <a:defRPr sz="1575">
                <a:solidFill>
                  <a:srgbClr val="111111"/>
                </a:solidFill>
                <a:latin typeface="Arial"/>
                <a:ea typeface="Arial"/>
                <a:cs typeface="Arial"/>
              </a:defRPr>
            </a:pPr>
            <a:r>
              <a:rPr sz="1575">
                <a:solidFill>
                  <a:srgbClr val="111111"/>
                </a:solidFill>
                <a:latin typeface="Arial"/>
                <a:ea typeface="Arial"/>
                <a:cs typeface="Arial"/>
              </a:rPr>
              <a:t>Move unhappy turtles</a:t>
            </a:r>
          </a:p>
        </p:txBody>
      </p:sp>
      <p:sp>
        <p:nvSpPr>
          <p:cNvPr id="11" name="">
            <a:extLst xmlns:a="http://schemas.openxmlformats.org/drawingml/2006/main">
              <a:ext uri="{FF2B5EF4-FFF2-40B4-BE49-F238E27FC236}">
                <a16:creationId xmlns:a16="http://schemas.microsoft.com/office/drawing/2014/main" id="{E31C4D5A-C29A-46E0-BCF4-26C6E86880B4}"/>
              </a:ext>
            </a:extLst>
          </p:cNvPr>
          <p:cNvSpPr>
            <a:spLocks xmlns:a="http://schemas.openxmlformats.org/drawingml/2006/main" noGrp="1"/>
          </p:cNvSpPr>
          <p:nvPr/>
        </p:nvSpPr>
        <p:spPr>
          <a:xfrm xmlns:a="http://schemas.openxmlformats.org/drawingml/2006/main">
            <a:off x="4619625" y="1771650"/>
            <a:ext cx="4000500" cy="466725"/>
          </a:xfrm>
          <a:prstGeom xmlns:a="http://schemas.openxmlformats.org/drawingml/2006/main" prst="rect">
            <a:avLst/>
          </a:prstGeom>
          <a:solidFill xmlns:a="http://schemas.openxmlformats.org/drawingml/2006/main">
            <a:srgbClr val="F0F2FF"/>
          </a:solidFill>
          <a:ln xmlns:a="http://schemas.openxmlformats.org/drawingml/2006/main" w="12383">
            <a:solidFill>
              <a:srgbClr val="21A899"/>
            </a:solidFill>
          </a:ln>
        </p:spPr>
        <p:txBody>
          <a:bodyPr xmlns:a="http://schemas.openxmlformats.org/drawingml/2006/main" lIns="76200" tIns="76200" rIns="76200" bIns="76200" anchor="ctr"/>
          <a:lstStyle xmlns:a="http://schemas.openxmlformats.org/drawingml/2006/main">
            <a:defPPr algn="ctr">
              <a:defRPr sz="1575">
                <a:solidFill>
                  <a:srgbClr val="111111"/>
                </a:solidFill>
                <a:latin typeface="Arial"/>
                <a:ea typeface="Arial"/>
                <a:cs typeface="Arial"/>
              </a:defRPr>
            </a:defPPr>
          </a:lstStyle>
          <a:p xmlns:a="http://schemas.openxmlformats.org/drawingml/2006/main">
            <a:pPr algn="ctr">
              <a:defRPr sz="1575">
                <a:solidFill>
                  <a:srgbClr val="111111"/>
                </a:solidFill>
                <a:latin typeface="Arial"/>
                <a:ea typeface="Arial"/>
                <a:cs typeface="Arial"/>
              </a:defRPr>
            </a:pPr>
            <a:r>
              <a:rPr sz="1575">
                <a:solidFill>
                  <a:srgbClr val="111111"/>
                </a:solidFill>
                <a:latin typeface="Arial"/>
                <a:ea typeface="Arial"/>
                <a:cs typeface="Arial"/>
              </a:rPr>
              <a:t>Update turtle states</a:t>
            </a:r>
          </a:p>
        </p:txBody>
      </p:sp>
      <p:sp>
        <p:nvSpPr>
          <p:cNvPr id="12" name="">
            <a:extLst xmlns:a="http://schemas.openxmlformats.org/drawingml/2006/main">
              <a:ext uri="{FF2B5EF4-FFF2-40B4-BE49-F238E27FC236}">
                <a16:creationId xmlns:a16="http://schemas.microsoft.com/office/drawing/2014/main" id="{C1CD2263-58C5-425C-A72E-6AD2108BE64B}"/>
              </a:ext>
            </a:extLst>
          </p:cNvPr>
          <p:cNvSpPr>
            <a:spLocks xmlns:a="http://schemas.openxmlformats.org/drawingml/2006/main" noGrp="1"/>
          </p:cNvSpPr>
          <p:nvPr/>
        </p:nvSpPr>
        <p:spPr>
          <a:xfrm xmlns:a="http://schemas.openxmlformats.org/drawingml/2006/main">
            <a:off x="4619625" y="2524125"/>
            <a:ext cx="4000500" cy="466725"/>
          </a:xfrm>
          <a:prstGeom xmlns:a="http://schemas.openxmlformats.org/drawingml/2006/main" prst="rect">
            <a:avLst/>
          </a:prstGeom>
          <a:solidFill xmlns:a="http://schemas.openxmlformats.org/drawingml/2006/main">
            <a:srgbClr val="F0F2FF"/>
          </a:solidFill>
          <a:ln xmlns:a="http://schemas.openxmlformats.org/drawingml/2006/main" w="12383">
            <a:solidFill>
              <a:srgbClr val="21A899"/>
            </a:solidFill>
          </a:ln>
        </p:spPr>
        <p:txBody>
          <a:bodyPr xmlns:a="http://schemas.openxmlformats.org/drawingml/2006/main" lIns="76200" tIns="76200" rIns="76200" bIns="76200" anchor="ctr"/>
          <a:lstStyle xmlns:a="http://schemas.openxmlformats.org/drawingml/2006/main">
            <a:defPPr algn="ctr">
              <a:defRPr sz="1575">
                <a:solidFill>
                  <a:srgbClr val="111111"/>
                </a:solidFill>
                <a:latin typeface="Arial"/>
                <a:ea typeface="Arial"/>
                <a:cs typeface="Arial"/>
              </a:defRPr>
            </a:defPPr>
          </a:lstStyle>
          <a:p xmlns:a="http://schemas.openxmlformats.org/drawingml/2006/main">
            <a:pPr algn="ctr">
              <a:defRPr sz="1575">
                <a:solidFill>
                  <a:srgbClr val="111111"/>
                </a:solidFill>
                <a:latin typeface="Arial"/>
                <a:ea typeface="Arial"/>
                <a:cs typeface="Arial"/>
              </a:defRPr>
            </a:pPr>
            <a:r>
              <a:rPr sz="1575">
                <a:solidFill>
                  <a:srgbClr val="111111"/>
                </a:solidFill>
                <a:latin typeface="Arial"/>
                <a:ea typeface="Arial"/>
                <a:cs typeface="Arial"/>
              </a:rPr>
              <a:t>Update global measures</a:t>
            </a:r>
          </a:p>
        </p:txBody>
      </p:sp>
      <p:sp>
        <p:nvSpPr>
          <p:cNvPr id="13" name="">
            <a:extLst xmlns:a="http://schemas.openxmlformats.org/drawingml/2006/main">
              <a:ext uri="{FF2B5EF4-FFF2-40B4-BE49-F238E27FC236}">
                <a16:creationId xmlns:a16="http://schemas.microsoft.com/office/drawing/2014/main" id="{ABE77C96-3F39-451A-B467-8A9C6E3E1A78}"/>
              </a:ext>
            </a:extLst>
          </p:cNvPr>
          <p:cNvSpPr>
            <a:spLocks xmlns:a="http://schemas.openxmlformats.org/drawingml/2006/main" noGrp="1"/>
          </p:cNvSpPr>
          <p:nvPr/>
        </p:nvSpPr>
        <p:spPr>
          <a:xfrm xmlns:a="http://schemas.openxmlformats.org/drawingml/2006/main">
            <a:off x="4619625" y="3276600"/>
            <a:ext cx="4000500" cy="466725"/>
          </a:xfrm>
          <a:prstGeom xmlns:a="http://schemas.openxmlformats.org/drawingml/2006/main" prst="rect">
            <a:avLst/>
          </a:prstGeom>
          <a:solidFill xmlns:a="http://schemas.openxmlformats.org/drawingml/2006/main">
            <a:srgbClr val="F0F2FF"/>
          </a:solidFill>
          <a:ln xmlns:a="http://schemas.openxmlformats.org/drawingml/2006/main" w="12383">
            <a:solidFill>
              <a:srgbClr val="21A899"/>
            </a:solidFill>
          </a:ln>
        </p:spPr>
        <p:txBody>
          <a:bodyPr xmlns:a="http://schemas.openxmlformats.org/drawingml/2006/main" lIns="76200" tIns="76200" rIns="76200" bIns="76200" anchor="ctr"/>
          <a:lstStyle xmlns:a="http://schemas.openxmlformats.org/drawingml/2006/main">
            <a:defPPr algn="ctr">
              <a:defRPr sz="1575">
                <a:solidFill>
                  <a:srgbClr val="111111"/>
                </a:solidFill>
                <a:latin typeface="Arial"/>
                <a:ea typeface="Arial"/>
                <a:cs typeface="Arial"/>
              </a:defRPr>
            </a:defPPr>
          </a:lstStyle>
          <a:p xmlns:a="http://schemas.openxmlformats.org/drawingml/2006/main">
            <a:pPr algn="ctr">
              <a:defRPr sz="1575">
                <a:solidFill>
                  <a:srgbClr val="111111"/>
                </a:solidFill>
                <a:latin typeface="Arial"/>
                <a:ea typeface="Arial"/>
                <a:cs typeface="Arial"/>
              </a:defRPr>
            </a:pPr>
            <a:r>
              <a:rPr sz="1575">
                <a:solidFill>
                  <a:srgbClr val="111111"/>
                </a:solidFill>
                <a:latin typeface="Arial"/>
                <a:ea typeface="Arial"/>
                <a:cs typeface="Arial"/>
              </a:rPr>
              <a:t>Advance CLOCK: tick</a:t>
            </a:r>
          </a:p>
        </p:txBody>
      </p:sp>
      <p:sp>
        <p:nvSpPr>
          <p:cNvPr id="15" name="">
            <a:extLst xmlns:a="http://schemas.openxmlformats.org/drawingml/2006/main">
              <a:ext uri="{FF2B5EF4-FFF2-40B4-BE49-F238E27FC236}">
                <a16:creationId xmlns:a16="http://schemas.microsoft.com/office/drawing/2014/main" id="{48A0D650-88DD-4B4B-B2CF-BC78B3A3FCE2}"/>
              </a:ext>
            </a:extLst>
          </p:cNvPr>
          <p:cNvSpPr>
            <a:spLocks xmlns:a="http://schemas.openxmlformats.org/drawingml/2006/main" noGrp="1"/>
          </p:cNvSpPr>
          <p:nvPr/>
        </p:nvSpPr>
        <p:spPr>
          <a:xfrm xmlns:a="http://schemas.openxmlformats.org/drawingml/2006/main">
            <a:off x="3238500" y="16954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111111"/>
                </a:solidFill>
                <a:latin typeface="Arial"/>
                <a:ea typeface="Arial"/>
                <a:cs typeface="Arial"/>
              </a:defRPr>
            </a:defPPr>
          </a:lstStyle>
          <a:p xmlns:a="http://schemas.openxmlformats.org/drawingml/2006/main">
            <a:pPr>
              <a:defRPr sz="1350" b="0">
                <a:solidFill>
                  <a:srgbClr val="111111"/>
                </a:solidFill>
                <a:latin typeface="Arial"/>
                <a:ea typeface="Arial"/>
                <a:cs typeface="Arial"/>
              </a:defRPr>
            </a:pPr>
            <a:r>
              <a:rPr sz="1350" b="0">
                <a:solidFill>
                  <a:srgbClr val="111111"/>
                </a:solidFill>
                <a:latin typeface="Arial"/>
                <a:ea typeface="Arial"/>
                <a:cs typeface="Arial"/>
              </a:rPr>
              <a:t>No</a:t>
            </a:r>
          </a:p>
        </p:txBody>
      </p:sp>
      <p:sp>
        <p:nvSpPr>
          <p:cNvPr id="19" name="">
            <a:extLst xmlns:a="http://schemas.openxmlformats.org/drawingml/2006/main">
              <a:ext uri="{FF2B5EF4-FFF2-40B4-BE49-F238E27FC236}">
                <a16:creationId xmlns:a16="http://schemas.microsoft.com/office/drawing/2014/main" id="{D29A2A18-CD77-4F6B-A157-64CBBDC0F737}"/>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The continuous button repeats GO.</a:t>
            </a:r>
          </a:p>
        </p:txBody>
      </p:sp>
    </p:spTree>
    <p:extLst>
      <p:ext uri="{BB962C8B-B14F-4D97-AF65-F5344CB8AC3E}">
        <p14:creationId xmlns:p14="http://schemas.microsoft.com/office/powerpoint/2010/main" val="1542869866"/>
      </p:ext>
    </p:extLst>
  </p:cSld>
</p:sld>
</file>

<file path=ppt/slides/slide15.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924EBF-F870-4156-800C-168605D69BC3}"/>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A subroutine calls a subroutine</a:t>
            </a:r>
          </a:p>
        </p:txBody>
      </p:sp>
      <p:sp>
        <p:nvSpPr>
          <p:cNvPr id="2" name="">
            <a:extLst xmlns:a="http://schemas.openxmlformats.org/drawingml/2006/main">
              <a:ext uri="{FF2B5EF4-FFF2-40B4-BE49-F238E27FC236}">
                <a16:creationId xmlns:a16="http://schemas.microsoft.com/office/drawing/2014/main" id="{825E79CB-4B99-4D1A-B808-C443157DCAF1}"/>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Model code</a:t>
            </a:r>
          </a:p>
        </p:txBody>
      </p:sp>
      <p:sp>
        <p:nvSpPr>
          <p:cNvPr id="3" name="">
            <a:extLst xmlns:a="http://schemas.openxmlformats.org/drawingml/2006/main">
              <a:ext uri="{FF2B5EF4-FFF2-40B4-BE49-F238E27FC236}">
                <a16:creationId xmlns:a16="http://schemas.microsoft.com/office/drawing/2014/main" id="{0D75CD3E-5367-46D8-B1B1-A40B0CA0ACBC}"/>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D55FD6A2-24EC-41EB-9E64-2C578119CBC5}"/>
              </a:ext>
            </a:extLst>
          </p:cNvPr>
          <p:cNvSpPr>
            <a:spLocks xmlns:a="http://schemas.openxmlformats.org/drawingml/2006/main" noGrp="1"/>
          </p:cNvSpPr>
          <p:nvPr/>
        </p:nvSpPr>
        <p:spPr>
          <a:xfrm xmlns:a="http://schemas.openxmlformats.org/drawingml/2006/main">
            <a:off x="381000" y="1362075"/>
            <a:ext cx="8286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75A50"/>
                </a:solidFill>
                <a:latin typeface="Courier New"/>
                <a:ea typeface="Courier New"/>
                <a:cs typeface="Courier New"/>
              </a:defRPr>
            </a:defPPr>
          </a:lstStyle>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to move-unhappy-turtles</a:t>
            </a:r>
          </a:p>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  ask turtles with [ not happy? ]</a:t>
            </a:r>
          </a:p>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    [ find-new-spot ]</a:t>
            </a:r>
          </a:p>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end</a:t>
            </a:r>
          </a:p>
        </p:txBody>
      </p:sp>
      <p:sp>
        <p:nvSpPr>
          <p:cNvPr id="5" name="">
            <a:extLst xmlns:a="http://schemas.openxmlformats.org/drawingml/2006/main">
              <a:ext uri="{FF2B5EF4-FFF2-40B4-BE49-F238E27FC236}">
                <a16:creationId xmlns:a16="http://schemas.microsoft.com/office/drawing/2014/main" id="{04BA6636-A3BA-4020-90DA-6DA8550FFB8D}"/>
              </a:ext>
            </a:extLst>
          </p:cNvPr>
          <p:cNvSpPr>
            <a:spLocks xmlns:a="http://schemas.openxmlformats.org/drawingml/2006/main" noGrp="1"/>
          </p:cNvSpPr>
          <p:nvPr/>
        </p:nvSpPr>
        <p:spPr>
          <a:xfrm xmlns:a="http://schemas.openxmlformats.org/drawingml/2006/main">
            <a:off x="381000" y="3238500"/>
            <a:ext cx="8286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11111"/>
                </a:solidFill>
                <a:latin typeface="Arial"/>
                <a:ea typeface="Arial"/>
                <a:cs typeface="Arial"/>
              </a:defRPr>
            </a:defPPr>
          </a:lstStyle>
          <a:p xmlns:a="http://schemas.openxmlformats.org/drawingml/2006/main">
            <a:pPr>
              <a:defRPr sz="1950" b="0">
                <a:solidFill>
                  <a:srgbClr val="111111"/>
                </a:solidFill>
                <a:latin typeface="Arial"/>
                <a:ea typeface="Arial"/>
                <a:cs typeface="Arial"/>
              </a:defRPr>
            </a:pPr>
            <a:r>
              <a:rPr sz="1950" b="0">
                <a:solidFill>
                  <a:srgbClr val="111111"/>
                </a:solidFill>
                <a:latin typeface="Arial"/>
                <a:ea typeface="Arial"/>
                <a:cs typeface="Arial"/>
              </a:rPr>
              <a:t>The procedure selects who acts.</a:t>
            </a:r>
          </a:p>
          <a:p xmlns:a="http://schemas.openxmlformats.org/drawingml/2006/main">
            <a:pPr>
              <a:defRPr sz="1950" b="0">
                <a:solidFill>
                  <a:srgbClr val="111111"/>
                </a:solidFill>
                <a:latin typeface="Arial"/>
                <a:ea typeface="Arial"/>
                <a:cs typeface="Arial"/>
              </a:defRPr>
            </a:pPr>
            <a:r>
              <a:rPr sz="1950" b="0">
                <a:solidFill>
                  <a:srgbClr val="111111"/>
                </a:solidFill>
                <a:latin typeface="Arial"/>
                <a:ea typeface="Arial"/>
                <a:cs typeface="Arial"/>
              </a:rPr>
              <a:t>Each selected turtle calls find-new-spot.</a:t>
            </a:r>
          </a:p>
          <a:p xmlns:a="http://schemas.openxmlformats.org/drawingml/2006/main">
            <a:pPr>
              <a:defRPr sz="1950" b="0">
                <a:solidFill>
                  <a:srgbClr val="111111"/>
                </a:solidFill>
                <a:latin typeface="Arial"/>
                <a:ea typeface="Arial"/>
                <a:cs typeface="Arial"/>
              </a:defRPr>
            </a:pPr>
            <a:r>
              <a:rPr sz="1950" b="0">
                <a:solidFill>
                  <a:srgbClr val="111111"/>
                </a:solidFill>
                <a:latin typeface="Arial"/>
                <a:ea typeface="Arial"/>
                <a:cs typeface="Arial"/>
              </a:rPr>
              <a:t>Happy turtles remain where they are.</a:t>
            </a:r>
          </a:p>
        </p:txBody>
      </p:sp>
    </p:spTree>
    <p:extLst>
      <p:ext uri="{BB962C8B-B14F-4D97-AF65-F5344CB8AC3E}">
        <p14:creationId xmlns:p14="http://schemas.microsoft.com/office/powerpoint/2010/main" val="1074116479"/>
      </p:ext>
    </p:extLst>
  </p:cSld>
</p:sld>
</file>

<file path=ppt/slides/slide16.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B194A7B-593F-4625-AB39-70F859CFB1A2}"/>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A subroutine calls itself</a:t>
            </a:r>
          </a:p>
        </p:txBody>
      </p:sp>
      <p:sp>
        <p:nvSpPr>
          <p:cNvPr id="2" name="">
            <a:extLst xmlns:a="http://schemas.openxmlformats.org/drawingml/2006/main">
              <a:ext uri="{FF2B5EF4-FFF2-40B4-BE49-F238E27FC236}">
                <a16:creationId xmlns:a16="http://schemas.microsoft.com/office/drawing/2014/main" id="{E7B62D4C-7DA8-491B-90D3-15A294C09E8A}"/>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Original model code</a:t>
            </a:r>
          </a:p>
        </p:txBody>
      </p:sp>
      <p:sp>
        <p:nvSpPr>
          <p:cNvPr id="3" name="">
            <a:extLst xmlns:a="http://schemas.openxmlformats.org/drawingml/2006/main">
              <a:ext uri="{FF2B5EF4-FFF2-40B4-BE49-F238E27FC236}">
                <a16:creationId xmlns:a16="http://schemas.microsoft.com/office/drawing/2014/main" id="{2DF681FF-3E14-4E0B-9685-C4E5936B3E33}"/>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684DCE0A-29DB-45FD-8986-FA15456C97C8}"/>
              </a:ext>
            </a:extLst>
          </p:cNvPr>
          <p:cNvSpPr>
            <a:spLocks xmlns:a="http://schemas.openxmlformats.org/drawingml/2006/main" noGrp="1"/>
          </p:cNvSpPr>
          <p:nvPr/>
        </p:nvSpPr>
        <p:spPr>
          <a:xfrm xmlns:a="http://schemas.openxmlformats.org/drawingml/2006/main">
            <a:off x="381000" y="1190625"/>
            <a:ext cx="5905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75A50"/>
                </a:solidFill>
                <a:latin typeface="Courier New"/>
                <a:ea typeface="Courier New"/>
                <a:cs typeface="Courier New"/>
              </a:defRPr>
            </a:defPPr>
          </a:lstStyle>
          <a:p xmlns:a="http://schemas.openxmlformats.org/drawingml/2006/main">
            <a:pPr>
              <a:defRPr sz="1725" b="0">
                <a:solidFill>
                  <a:srgbClr val="075A50"/>
                </a:solidFill>
                <a:latin typeface="Courier New"/>
                <a:ea typeface="Courier New"/>
                <a:cs typeface="Courier New"/>
              </a:defRPr>
            </a:pPr>
            <a:r>
              <a:rPr sz="1725" b="0">
                <a:solidFill>
                  <a:srgbClr val="075A50"/>
                </a:solidFill>
                <a:latin typeface="Courier New"/>
                <a:ea typeface="Courier New"/>
                <a:cs typeface="Courier New"/>
              </a:rPr>
              <a:t>to find-new-spot</a:t>
            </a:r>
          </a:p>
          <a:p xmlns:a="http://schemas.openxmlformats.org/drawingml/2006/main">
            <a:pPr>
              <a:defRPr sz="1725" b="0">
                <a:solidFill>
                  <a:srgbClr val="075A50"/>
                </a:solidFill>
                <a:latin typeface="Courier New"/>
                <a:ea typeface="Courier New"/>
                <a:cs typeface="Courier New"/>
              </a:defRPr>
            </a:pPr>
            <a:r>
              <a:rPr sz="1725" b="0">
                <a:solidFill>
                  <a:srgbClr val="075A50"/>
                </a:solidFill>
                <a:latin typeface="Courier New"/>
                <a:ea typeface="Courier New"/>
                <a:cs typeface="Courier New"/>
              </a:rPr>
              <a:t>  rt random-float 360</a:t>
            </a:r>
          </a:p>
          <a:p xmlns:a="http://schemas.openxmlformats.org/drawingml/2006/main">
            <a:pPr>
              <a:defRPr sz="1725" b="0">
                <a:solidFill>
                  <a:srgbClr val="075A50"/>
                </a:solidFill>
                <a:latin typeface="Courier New"/>
                <a:ea typeface="Courier New"/>
                <a:cs typeface="Courier New"/>
              </a:defRPr>
            </a:pPr>
            <a:r>
              <a:rPr sz="1725" b="0">
                <a:solidFill>
                  <a:srgbClr val="075A50"/>
                </a:solidFill>
                <a:latin typeface="Courier New"/>
                <a:ea typeface="Courier New"/>
                <a:cs typeface="Courier New"/>
              </a:rPr>
              <a:t>  fd random-float 10</a:t>
            </a:r>
          </a:p>
          <a:p xmlns:a="http://schemas.openxmlformats.org/drawingml/2006/main">
            <a:pPr>
              <a:defRPr sz="1725" b="0">
                <a:solidFill>
                  <a:srgbClr val="075A50"/>
                </a:solidFill>
                <a:latin typeface="Courier New"/>
                <a:ea typeface="Courier New"/>
                <a:cs typeface="Courier New"/>
              </a:defRPr>
            </a:pPr>
            <a:r>
              <a:rPr sz="1725" b="0">
                <a:solidFill>
                  <a:srgbClr val="075A50"/>
                </a:solidFill>
                <a:latin typeface="Courier New"/>
                <a:ea typeface="Courier New"/>
                <a:cs typeface="Courier New"/>
              </a:rPr>
              <a:t>  if any? other turtles-here</a:t>
            </a:r>
          </a:p>
          <a:p xmlns:a="http://schemas.openxmlformats.org/drawingml/2006/main">
            <a:pPr>
              <a:defRPr sz="1725" b="0">
                <a:solidFill>
                  <a:srgbClr val="075A50"/>
                </a:solidFill>
                <a:latin typeface="Courier New"/>
                <a:ea typeface="Courier New"/>
                <a:cs typeface="Courier New"/>
              </a:defRPr>
            </a:pPr>
            <a:r>
              <a:rPr sz="1725" b="0">
                <a:solidFill>
                  <a:srgbClr val="075A50"/>
                </a:solidFill>
                <a:latin typeface="Courier New"/>
                <a:ea typeface="Courier New"/>
                <a:cs typeface="Courier New"/>
              </a:rPr>
              <a:t>    [ find-new-spot ]</a:t>
            </a:r>
          </a:p>
          <a:p xmlns:a="http://schemas.openxmlformats.org/drawingml/2006/main">
            <a:pPr>
              <a:defRPr sz="1725" b="0">
                <a:solidFill>
                  <a:srgbClr val="075A50"/>
                </a:solidFill>
                <a:latin typeface="Courier New"/>
                <a:ea typeface="Courier New"/>
                <a:cs typeface="Courier New"/>
              </a:defRPr>
            </a:pPr>
            <a:r>
              <a:rPr sz="1725" b="0">
                <a:solidFill>
                  <a:srgbClr val="075A50"/>
                </a:solidFill>
                <a:latin typeface="Courier New"/>
                <a:ea typeface="Courier New"/>
                <a:cs typeface="Courier New"/>
              </a:rPr>
              <a:t>  move-to patch-here</a:t>
            </a:r>
          </a:p>
          <a:p xmlns:a="http://schemas.openxmlformats.org/drawingml/2006/main">
            <a:pPr>
              <a:defRPr sz="1725" b="0">
                <a:solidFill>
                  <a:srgbClr val="075A50"/>
                </a:solidFill>
                <a:latin typeface="Courier New"/>
                <a:ea typeface="Courier New"/>
                <a:cs typeface="Courier New"/>
              </a:defRPr>
            </a:pPr>
            <a:r>
              <a:rPr sz="1725" b="0">
                <a:solidFill>
                  <a:srgbClr val="075A50"/>
                </a:solidFill>
                <a:latin typeface="Courier New"/>
                <a:ea typeface="Courier New"/>
                <a:cs typeface="Courier New"/>
              </a:rPr>
              <a:t>end</a:t>
            </a:r>
          </a:p>
        </p:txBody>
      </p:sp>
      <p:sp>
        <p:nvSpPr>
          <p:cNvPr id="5" name="">
            <a:extLst xmlns:a="http://schemas.openxmlformats.org/drawingml/2006/main">
              <a:ext uri="{FF2B5EF4-FFF2-40B4-BE49-F238E27FC236}">
                <a16:creationId xmlns:a16="http://schemas.microsoft.com/office/drawing/2014/main" id="{1AE7A590-9417-4AB0-8E08-71B524FF5A1F}"/>
              </a:ext>
            </a:extLst>
          </p:cNvPr>
          <p:cNvSpPr>
            <a:spLocks xmlns:a="http://schemas.openxmlformats.org/drawingml/2006/main" noGrp="1"/>
          </p:cNvSpPr>
          <p:nvPr/>
        </p:nvSpPr>
        <p:spPr>
          <a:xfrm xmlns:a="http://schemas.openxmlformats.org/drawingml/2006/main">
            <a:off x="6524625" y="1219200"/>
            <a:ext cx="2190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11111"/>
                </a:solidFill>
                <a:latin typeface="Arial"/>
                <a:ea typeface="Arial"/>
                <a:cs typeface="Arial"/>
              </a:defRPr>
            </a:defPPr>
          </a:lstStyle>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Turn and move randomly.</a:t>
            </a:r>
          </a:p>
          <a:p xmlns:a="http://schemas.openxmlformats.org/drawingml/2006/main">
            <a:r>
              <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Occupied patch?</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Call this procedure again.</a:t>
            </a:r>
          </a:p>
          <a:p xmlns:a="http://schemas.openxmlformats.org/drawingml/2006/main">
            <a:r>
              <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The self-call is recursion.</a:t>
            </a:r>
          </a:p>
        </p:txBody>
      </p:sp>
      <p:sp>
        <p:nvSpPr>
          <p:cNvPr id="6" name="">
            <a:extLst xmlns:a="http://schemas.openxmlformats.org/drawingml/2006/main">
              <a:ext uri="{FF2B5EF4-FFF2-40B4-BE49-F238E27FC236}">
                <a16:creationId xmlns:a16="http://schemas.microsoft.com/office/drawing/2014/main" id="{304F43D9-FB45-43E0-8A3E-DC7725D1A4C4}"/>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The search tests vacancy, not whether the destination makes the turtle happy.</a:t>
            </a:r>
          </a:p>
        </p:txBody>
      </p:sp>
    </p:spTree>
    <p:extLst>
      <p:ext uri="{BB962C8B-B14F-4D97-AF65-F5344CB8AC3E}">
        <p14:creationId xmlns:p14="http://schemas.microsoft.com/office/powerpoint/2010/main" val="661092018"/>
      </p:ext>
    </p:extLst>
  </p:cSld>
</p:sld>
</file>

<file path=ppt/slides/slide17.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351ED5-C3D3-49B2-BAA2-4EBA3C79FF54}"/>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A clearer decision with ifelse</a:t>
            </a:r>
          </a:p>
        </p:txBody>
      </p:sp>
      <p:sp>
        <p:nvSpPr>
          <p:cNvPr id="2" name="">
            <a:extLst xmlns:a="http://schemas.openxmlformats.org/drawingml/2006/main">
              <a:ext uri="{FF2B5EF4-FFF2-40B4-BE49-F238E27FC236}">
                <a16:creationId xmlns:a16="http://schemas.microsoft.com/office/drawing/2014/main" id="{0C534798-6D45-4DFC-B62B-DE658A7CA7ED}"/>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Proposed rewrite</a:t>
            </a:r>
          </a:p>
        </p:txBody>
      </p:sp>
      <p:sp>
        <p:nvSpPr>
          <p:cNvPr id="3" name="">
            <a:extLst xmlns:a="http://schemas.openxmlformats.org/drawingml/2006/main">
              <a:ext uri="{FF2B5EF4-FFF2-40B4-BE49-F238E27FC236}">
                <a16:creationId xmlns:a16="http://schemas.microsoft.com/office/drawing/2014/main" id="{B049A988-9627-40B8-BED8-47DB6FC6D4A7}"/>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E51B4680-EED9-4EA3-8D3F-4BBEC22E8405}"/>
              </a:ext>
            </a:extLst>
          </p:cNvPr>
          <p:cNvSpPr>
            <a:spLocks xmlns:a="http://schemas.openxmlformats.org/drawingml/2006/main" noGrp="1"/>
          </p:cNvSpPr>
          <p:nvPr/>
        </p:nvSpPr>
        <p:spPr>
          <a:xfrm xmlns:a="http://schemas.openxmlformats.org/drawingml/2006/main">
            <a:off x="381000" y="1181100"/>
            <a:ext cx="5905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75A50"/>
                </a:solidFill>
                <a:latin typeface="Courier New"/>
                <a:ea typeface="Courier New"/>
                <a:cs typeface="Courier New"/>
              </a:defRPr>
            </a:defPPr>
          </a:lstStyle>
          <a:p xmlns:a="http://schemas.openxmlformats.org/drawingml/2006/main">
            <a:pPr>
              <a:defRPr sz="1725" b="0">
                <a:solidFill>
                  <a:srgbClr val="075A50"/>
                </a:solidFill>
                <a:latin typeface="Courier New"/>
                <a:ea typeface="Courier New"/>
                <a:cs typeface="Courier New"/>
              </a:defRPr>
            </a:pPr>
            <a:r>
              <a:rPr sz="1725" b="0">
                <a:solidFill>
                  <a:srgbClr val="075A50"/>
                </a:solidFill>
                <a:latin typeface="Courier New"/>
                <a:ea typeface="Courier New"/>
                <a:cs typeface="Courier New"/>
              </a:rPr>
              <a:t>to find-new-spot</a:t>
            </a:r>
          </a:p>
          <a:p xmlns:a="http://schemas.openxmlformats.org/drawingml/2006/main">
            <a:pPr>
              <a:defRPr sz="1725" b="0">
                <a:solidFill>
                  <a:srgbClr val="075A50"/>
                </a:solidFill>
                <a:latin typeface="Courier New"/>
                <a:ea typeface="Courier New"/>
                <a:cs typeface="Courier New"/>
              </a:defRPr>
            </a:pPr>
            <a:r>
              <a:rPr sz="1725" b="0">
                <a:solidFill>
                  <a:srgbClr val="075A50"/>
                </a:solidFill>
                <a:latin typeface="Courier New"/>
                <a:ea typeface="Courier New"/>
                <a:cs typeface="Courier New"/>
              </a:rPr>
              <a:t>  rt random-float 360</a:t>
            </a:r>
          </a:p>
          <a:p xmlns:a="http://schemas.openxmlformats.org/drawingml/2006/main">
            <a:pPr>
              <a:defRPr sz="1725" b="0">
                <a:solidFill>
                  <a:srgbClr val="075A50"/>
                </a:solidFill>
                <a:latin typeface="Courier New"/>
                <a:ea typeface="Courier New"/>
                <a:cs typeface="Courier New"/>
              </a:defRPr>
            </a:pPr>
            <a:r>
              <a:rPr sz="1725" b="0">
                <a:solidFill>
                  <a:srgbClr val="075A50"/>
                </a:solidFill>
                <a:latin typeface="Courier New"/>
                <a:ea typeface="Courier New"/>
                <a:cs typeface="Courier New"/>
              </a:rPr>
              <a:t>  fd random-float 10</a:t>
            </a:r>
          </a:p>
          <a:p xmlns:a="http://schemas.openxmlformats.org/drawingml/2006/main">
            <a:pPr>
              <a:defRPr sz="1725" b="0">
                <a:solidFill>
                  <a:srgbClr val="075A50"/>
                </a:solidFill>
                <a:latin typeface="Courier New"/>
                <a:ea typeface="Courier New"/>
                <a:cs typeface="Courier New"/>
              </a:defRPr>
            </a:pPr>
            <a:r>
              <a:rPr sz="1725" b="0">
                <a:solidFill>
                  <a:srgbClr val="075A50"/>
                </a:solidFill>
                <a:latin typeface="Courier New"/>
                <a:ea typeface="Courier New"/>
                <a:cs typeface="Courier New"/>
              </a:rPr>
              <a:t>  ifelse any? other turtles-here [</a:t>
            </a:r>
          </a:p>
          <a:p xmlns:a="http://schemas.openxmlformats.org/drawingml/2006/main">
            <a:pPr>
              <a:defRPr sz="1725" b="0">
                <a:solidFill>
                  <a:srgbClr val="075A50"/>
                </a:solidFill>
                <a:latin typeface="Courier New"/>
                <a:ea typeface="Courier New"/>
                <a:cs typeface="Courier New"/>
              </a:defRPr>
            </a:pPr>
            <a:r>
              <a:rPr sz="1725" b="0">
                <a:solidFill>
                  <a:srgbClr val="075A50"/>
                </a:solidFill>
                <a:latin typeface="Courier New"/>
                <a:ea typeface="Courier New"/>
                <a:cs typeface="Courier New"/>
              </a:rPr>
              <a:t>    find-new-spot</a:t>
            </a:r>
          </a:p>
          <a:p xmlns:a="http://schemas.openxmlformats.org/drawingml/2006/main">
            <a:pPr>
              <a:defRPr sz="1725" b="0">
                <a:solidFill>
                  <a:srgbClr val="075A50"/>
                </a:solidFill>
                <a:latin typeface="Courier New"/>
                <a:ea typeface="Courier New"/>
                <a:cs typeface="Courier New"/>
              </a:defRPr>
            </a:pPr>
            <a:r>
              <a:rPr sz="1725" b="0">
                <a:solidFill>
                  <a:srgbClr val="075A50"/>
                </a:solidFill>
                <a:latin typeface="Courier New"/>
                <a:ea typeface="Courier New"/>
                <a:cs typeface="Courier New"/>
              </a:rPr>
              <a:t>  ] [</a:t>
            </a:r>
          </a:p>
          <a:p xmlns:a="http://schemas.openxmlformats.org/drawingml/2006/main">
            <a:pPr>
              <a:defRPr sz="1725" b="0">
                <a:solidFill>
                  <a:srgbClr val="075A50"/>
                </a:solidFill>
                <a:latin typeface="Courier New"/>
                <a:ea typeface="Courier New"/>
                <a:cs typeface="Courier New"/>
              </a:defRPr>
            </a:pPr>
            <a:r>
              <a:rPr sz="1725" b="0">
                <a:solidFill>
                  <a:srgbClr val="075A50"/>
                </a:solidFill>
                <a:latin typeface="Courier New"/>
                <a:ea typeface="Courier New"/>
                <a:cs typeface="Courier New"/>
              </a:rPr>
              <a:t>    move-to patch-here</a:t>
            </a:r>
          </a:p>
          <a:p xmlns:a="http://schemas.openxmlformats.org/drawingml/2006/main">
            <a:pPr>
              <a:defRPr sz="1725" b="0">
                <a:solidFill>
                  <a:srgbClr val="075A50"/>
                </a:solidFill>
                <a:latin typeface="Courier New"/>
                <a:ea typeface="Courier New"/>
                <a:cs typeface="Courier New"/>
              </a:defRPr>
            </a:pPr>
            <a:r>
              <a:rPr sz="1725" b="0">
                <a:solidFill>
                  <a:srgbClr val="075A50"/>
                </a:solidFill>
                <a:latin typeface="Courier New"/>
                <a:ea typeface="Courier New"/>
                <a:cs typeface="Courier New"/>
              </a:rPr>
              <a:t>  ]</a:t>
            </a:r>
          </a:p>
          <a:p xmlns:a="http://schemas.openxmlformats.org/drawingml/2006/main">
            <a:pPr>
              <a:defRPr sz="1725" b="0">
                <a:solidFill>
                  <a:srgbClr val="075A50"/>
                </a:solidFill>
                <a:latin typeface="Courier New"/>
                <a:ea typeface="Courier New"/>
                <a:cs typeface="Courier New"/>
              </a:defRPr>
            </a:pPr>
            <a:r>
              <a:rPr sz="1725" b="0">
                <a:solidFill>
                  <a:srgbClr val="075A50"/>
                </a:solidFill>
                <a:latin typeface="Courier New"/>
                <a:ea typeface="Courier New"/>
                <a:cs typeface="Courier New"/>
              </a:rPr>
              <a:t>end</a:t>
            </a:r>
          </a:p>
        </p:txBody>
      </p:sp>
      <p:sp>
        <p:nvSpPr>
          <p:cNvPr id="5" name="">
            <a:extLst xmlns:a="http://schemas.openxmlformats.org/drawingml/2006/main">
              <a:ext uri="{FF2B5EF4-FFF2-40B4-BE49-F238E27FC236}">
                <a16:creationId xmlns:a16="http://schemas.microsoft.com/office/drawing/2014/main" id="{5E855285-6CE5-484D-B3B4-28D1CF54C7CA}"/>
              </a:ext>
            </a:extLst>
          </p:cNvPr>
          <p:cNvSpPr>
            <a:spLocks xmlns:a="http://schemas.openxmlformats.org/drawingml/2006/main" noGrp="1"/>
          </p:cNvSpPr>
          <p:nvPr/>
        </p:nvSpPr>
        <p:spPr>
          <a:xfrm xmlns:a="http://schemas.openxmlformats.org/drawingml/2006/main">
            <a:off x="6524625" y="1228725"/>
            <a:ext cx="22383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11111"/>
                </a:solidFill>
                <a:latin typeface="Arial"/>
                <a:ea typeface="Arial"/>
                <a:cs typeface="Arial"/>
              </a:defRPr>
            </a:defPPr>
          </a:lstStyle>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Occupied:</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continue searching.</a:t>
            </a:r>
          </a:p>
          <a:p xmlns:a="http://schemas.openxmlformats.org/drawingml/2006/main">
            <a:r>
              <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Empty:</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centre the turtle.</a:t>
            </a:r>
          </a:p>
          <a:p xmlns:a="http://schemas.openxmlformats.org/drawingml/2006/main">
            <a:r>
              <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Same search behavior.</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Fewer centring instructions.</a:t>
            </a:r>
          </a:p>
        </p:txBody>
      </p:sp>
      <p:sp>
        <p:nvSpPr>
          <p:cNvPr id="6" name="">
            <a:extLst xmlns:a="http://schemas.openxmlformats.org/drawingml/2006/main">
              <a:ext uri="{FF2B5EF4-FFF2-40B4-BE49-F238E27FC236}">
                <a16:creationId xmlns:a16="http://schemas.microsoft.com/office/drawing/2014/main" id="{DAE31E00-3AF8-46B9-91E1-82A9975C4D43}"/>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The main benefit is that the two alternatives are explicit.</a:t>
            </a:r>
          </a:p>
        </p:txBody>
      </p:sp>
    </p:spTree>
    <p:extLst>
      <p:ext uri="{BB962C8B-B14F-4D97-AF65-F5344CB8AC3E}">
        <p14:creationId xmlns:p14="http://schemas.microsoft.com/office/powerpoint/2010/main" val="31767533"/>
      </p:ext>
    </p:extLst>
  </p:cSld>
</p:sld>
</file>

<file path=ppt/slides/slide18.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47AEDCE-B973-4F17-9EB5-7DB16ED1BAB5}"/>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Updating each turtle’s neighbourhood</a:t>
            </a:r>
          </a:p>
        </p:txBody>
      </p:sp>
      <p:sp>
        <p:nvSpPr>
          <p:cNvPr id="2" name="">
            <a:extLst xmlns:a="http://schemas.openxmlformats.org/drawingml/2006/main">
              <a:ext uri="{FF2B5EF4-FFF2-40B4-BE49-F238E27FC236}">
                <a16:creationId xmlns:a16="http://schemas.microsoft.com/office/drawing/2014/main" id="{CAAAD29A-3B34-4C3F-A0D8-75304C5B1C41}"/>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Original model code excerpt</a:t>
            </a:r>
          </a:p>
        </p:txBody>
      </p:sp>
      <p:sp>
        <p:nvSpPr>
          <p:cNvPr id="3" name="">
            <a:extLst xmlns:a="http://schemas.openxmlformats.org/drawingml/2006/main">
              <a:ext uri="{FF2B5EF4-FFF2-40B4-BE49-F238E27FC236}">
                <a16:creationId xmlns:a16="http://schemas.microsoft.com/office/drawing/2014/main" id="{61C4FC43-A12D-4134-9EB5-56CD68AD76FA}"/>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3CF6AF2C-3A06-4881-9F50-E92E72904464}"/>
              </a:ext>
            </a:extLst>
          </p:cNvPr>
          <p:cNvSpPr>
            <a:spLocks xmlns:a="http://schemas.openxmlformats.org/drawingml/2006/main" noGrp="1"/>
          </p:cNvSpPr>
          <p:nvPr/>
        </p:nvSpPr>
        <p:spPr>
          <a:xfrm xmlns:a="http://schemas.openxmlformats.org/drawingml/2006/main">
            <a:off x="381000" y="1066800"/>
            <a:ext cx="83820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075A50"/>
                </a:solidFill>
                <a:latin typeface="Courier New"/>
                <a:ea typeface="Courier New"/>
                <a:cs typeface="Courier New"/>
              </a:defRPr>
            </a:defPPr>
          </a:lstStyle>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set similar-nearby</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count (turtles-on neighbors)</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with [ color = [ color ] of myself ]</a:t>
            </a:r>
          </a:p>
          <a:p xmlns:a="http://schemas.openxmlformats.org/drawingml/2006/main">
            <a:r>
              <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set other-nearby</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count (turtles-on neighbors)</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with [ color != [ color ] of myself ]</a:t>
            </a:r>
          </a:p>
          <a:p xmlns:a="http://schemas.openxmlformats.org/drawingml/2006/main">
            <a:r>
              <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set total-nearby similar-nearby + other-nearby</a:t>
            </a:r>
          </a:p>
        </p:txBody>
      </p:sp>
      <p:sp>
        <p:nvSpPr>
          <p:cNvPr id="5" name="">
            <a:extLst xmlns:a="http://schemas.openxmlformats.org/drawingml/2006/main">
              <a:ext uri="{FF2B5EF4-FFF2-40B4-BE49-F238E27FC236}">
                <a16:creationId xmlns:a16="http://schemas.microsoft.com/office/drawing/2014/main" id="{EB498571-8468-4BA8-8318-AA6A2C42C813}"/>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Empty patches contribute no turtles to these counts.</a:t>
            </a:r>
          </a:p>
        </p:txBody>
      </p:sp>
    </p:spTree>
    <p:extLst>
      <p:ext uri="{BB962C8B-B14F-4D97-AF65-F5344CB8AC3E}">
        <p14:creationId xmlns:p14="http://schemas.microsoft.com/office/powerpoint/2010/main" val="1456079071"/>
      </p:ext>
    </p:extLst>
  </p:cSld>
</p:sld>
</file>

<file path=ppt/slides/slide19.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0A40A1-9F2D-4E60-80E7-7D4BC5814131}"/>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The threshold determines happiness</a:t>
            </a:r>
          </a:p>
        </p:txBody>
      </p:sp>
      <p:sp>
        <p:nvSpPr>
          <p:cNvPr id="2" name="">
            <a:extLst xmlns:a="http://schemas.openxmlformats.org/drawingml/2006/main">
              <a:ext uri="{FF2B5EF4-FFF2-40B4-BE49-F238E27FC236}">
                <a16:creationId xmlns:a16="http://schemas.microsoft.com/office/drawing/2014/main" id="{53F8D5D7-780D-4930-ADF8-31139866D2C8}"/>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Original code + worked illustration</a:t>
            </a:r>
          </a:p>
        </p:txBody>
      </p:sp>
      <p:sp>
        <p:nvSpPr>
          <p:cNvPr id="3" name="">
            <a:extLst xmlns:a="http://schemas.openxmlformats.org/drawingml/2006/main">
              <a:ext uri="{FF2B5EF4-FFF2-40B4-BE49-F238E27FC236}">
                <a16:creationId xmlns:a16="http://schemas.microsoft.com/office/drawing/2014/main" id="{7EDF6228-996D-44A7-8142-AF9F385A8112}"/>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69E85C9A-99A4-4C77-846F-1F2AFE7B2845}"/>
              </a:ext>
            </a:extLst>
          </p:cNvPr>
          <p:cNvSpPr>
            <a:spLocks xmlns:a="http://schemas.openxmlformats.org/drawingml/2006/main" noGrp="1"/>
          </p:cNvSpPr>
          <p:nvPr/>
        </p:nvSpPr>
        <p:spPr>
          <a:xfrm xmlns:a="http://schemas.openxmlformats.org/drawingml/2006/main">
            <a:off x="381000" y="1114425"/>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075A50"/>
                </a:solidFill>
                <a:latin typeface="Courier New"/>
                <a:ea typeface="Courier New"/>
                <a:cs typeface="Courier New"/>
              </a:defRPr>
            </a:defPPr>
          </a:lstStyle>
          <a:p xmlns:a="http://schemas.openxmlformats.org/drawingml/2006/main">
            <a:pPr>
              <a:defRPr sz="1875" b="0">
                <a:solidFill>
                  <a:srgbClr val="075A50"/>
                </a:solidFill>
                <a:latin typeface="Courier New"/>
                <a:ea typeface="Courier New"/>
                <a:cs typeface="Courier New"/>
              </a:defRPr>
            </a:pPr>
            <a:r>
              <a:rPr sz="1875" b="0">
                <a:solidFill>
                  <a:srgbClr val="075A50"/>
                </a:solidFill>
                <a:latin typeface="Courier New"/>
                <a:ea typeface="Courier New"/>
                <a:cs typeface="Courier New"/>
              </a:rPr>
              <a:t>set happy? similar-nearby &gt;=</a:t>
            </a:r>
          </a:p>
          <a:p xmlns:a="http://schemas.openxmlformats.org/drawingml/2006/main">
            <a:pPr>
              <a:defRPr sz="1875" b="0">
                <a:solidFill>
                  <a:srgbClr val="075A50"/>
                </a:solidFill>
                <a:latin typeface="Courier New"/>
                <a:ea typeface="Courier New"/>
                <a:cs typeface="Courier New"/>
              </a:defRPr>
            </a:pPr>
            <a:r>
              <a:rPr sz="1875" b="0">
                <a:solidFill>
                  <a:srgbClr val="075A50"/>
                </a:solidFill>
                <a:latin typeface="Courier New"/>
                <a:ea typeface="Courier New"/>
                <a:cs typeface="Courier New"/>
              </a:rPr>
              <a:t>  (%-similar-wanted * total-nearby / 100)</a:t>
            </a:r>
          </a:p>
        </p:txBody>
      </p:sp>
      <p:sp>
        <p:nvSpPr>
          <p:cNvPr id="5" name="">
            <a:extLst xmlns:a="http://schemas.openxmlformats.org/drawingml/2006/main">
              <a:ext uri="{FF2B5EF4-FFF2-40B4-BE49-F238E27FC236}">
                <a16:creationId xmlns:a16="http://schemas.microsoft.com/office/drawing/2014/main" id="{BD309313-DC1A-4788-B93E-8C2A6E2FF5CF}"/>
              </a:ext>
            </a:extLst>
          </p:cNvPr>
          <p:cNvSpPr>
            <a:spLocks xmlns:a="http://schemas.openxmlformats.org/drawingml/2006/main" noGrp="1"/>
          </p:cNvSpPr>
          <p:nvPr/>
        </p:nvSpPr>
        <p:spPr>
          <a:xfrm xmlns:a="http://schemas.openxmlformats.org/drawingml/2006/main">
            <a:off x="381000" y="2333625"/>
            <a:ext cx="828675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Example: 3 similar neighbours, 3 other neighbours.</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At a 50% threshold: 3 &gt;= 0.50 × 6, so happy? is true.</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At a 70% threshold: 3 &lt; 0.70 × 6, so happy? is false.</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With no neighbours, the code also sets happy? to true.</a:t>
            </a:r>
          </a:p>
        </p:txBody>
      </p:sp>
      <p:sp>
        <p:nvSpPr>
          <p:cNvPr id="6" name="">
            <a:extLst xmlns:a="http://schemas.openxmlformats.org/drawingml/2006/main">
              <a:ext uri="{FF2B5EF4-FFF2-40B4-BE49-F238E27FC236}">
                <a16:creationId xmlns:a16="http://schemas.microsoft.com/office/drawing/2014/main" id="{BE35548C-FC96-4DF5-BF4F-A9385E8E0255}"/>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happy? is a calculated state, not a permanent individual trait.</a:t>
            </a:r>
          </a:p>
        </p:txBody>
      </p:sp>
    </p:spTree>
    <p:extLst>
      <p:ext uri="{BB962C8B-B14F-4D97-AF65-F5344CB8AC3E}">
        <p14:creationId xmlns:p14="http://schemas.microsoft.com/office/powerpoint/2010/main" val="765220597"/>
      </p:ext>
    </p:extLst>
  </p:cSld>
</p:sld>
</file>

<file path=ppt/slides/slide20.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0FCE85-5EC4-4D2E-8CC1-50030A86F345}"/>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Visualization communicates states</a:t>
            </a:r>
          </a:p>
        </p:txBody>
      </p:sp>
      <p:sp>
        <p:nvSpPr>
          <p:cNvPr id="2" name="">
            <a:extLst xmlns:a="http://schemas.openxmlformats.org/drawingml/2006/main">
              <a:ext uri="{FF2B5EF4-FFF2-40B4-BE49-F238E27FC236}">
                <a16:creationId xmlns:a16="http://schemas.microsoft.com/office/drawing/2014/main" id="{8F9210DF-AB4D-4F86-993E-E9B48EEDB4F3}"/>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Original model code</a:t>
            </a:r>
          </a:p>
        </p:txBody>
      </p:sp>
      <p:sp>
        <p:nvSpPr>
          <p:cNvPr id="3" name="">
            <a:extLst xmlns:a="http://schemas.openxmlformats.org/drawingml/2006/main">
              <a:ext uri="{FF2B5EF4-FFF2-40B4-BE49-F238E27FC236}">
                <a16:creationId xmlns:a16="http://schemas.microsoft.com/office/drawing/2014/main" id="{93E6CFE1-68D0-48B2-B302-03127E535948}"/>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FADF5BEB-E837-42B8-9D74-4DFA88A6CF90}"/>
              </a:ext>
            </a:extLst>
          </p:cNvPr>
          <p:cNvSpPr>
            <a:spLocks xmlns:a="http://schemas.openxmlformats.org/drawingml/2006/main" noGrp="1"/>
          </p:cNvSpPr>
          <p:nvPr/>
        </p:nvSpPr>
        <p:spPr>
          <a:xfrm xmlns:a="http://schemas.openxmlformats.org/drawingml/2006/main">
            <a:off x="381000" y="1114425"/>
            <a:ext cx="5810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075A50"/>
                </a:solidFill>
                <a:latin typeface="Courier New"/>
                <a:ea typeface="Courier New"/>
                <a:cs typeface="Courier New"/>
              </a:defRPr>
            </a:defPPr>
          </a:lstStyle>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if visualization = "old" [</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set shape "default"</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set size 1.3</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if visualization = "square-x" [</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ifelse happy?</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 set shape "square" ]</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    [ set shape "X" ]</a:t>
            </a:r>
          </a:p>
          <a:p xmlns:a="http://schemas.openxmlformats.org/drawingml/2006/main">
            <a:pPr>
              <a:defRPr sz="1650" b="0">
                <a:solidFill>
                  <a:srgbClr val="075A50"/>
                </a:solidFill>
                <a:latin typeface="Courier New"/>
                <a:ea typeface="Courier New"/>
                <a:cs typeface="Courier New"/>
              </a:defRPr>
            </a:pPr>
            <a:r>
              <a:rPr sz="1650" b="0">
                <a:solidFill>
                  <a:srgbClr val="075A50"/>
                </a:solidFill>
                <a:latin typeface="Courier New"/>
                <a:ea typeface="Courier New"/>
                <a:cs typeface="Courier New"/>
              </a:rPr>
              <a:t>]</a:t>
            </a:r>
          </a:p>
        </p:txBody>
      </p:sp>
      <p:sp>
        <p:nvSpPr>
          <p:cNvPr id="5" name="">
            <a:extLst xmlns:a="http://schemas.openxmlformats.org/drawingml/2006/main">
              <a:ext uri="{FF2B5EF4-FFF2-40B4-BE49-F238E27FC236}">
                <a16:creationId xmlns:a16="http://schemas.microsoft.com/office/drawing/2014/main" id="{91AFB4E2-9950-4894-9A64-4A147E0A6FC2}"/>
              </a:ext>
            </a:extLst>
          </p:cNvPr>
          <p:cNvSpPr>
            <a:spLocks xmlns:a="http://schemas.openxmlformats.org/drawingml/2006/main" noGrp="1"/>
          </p:cNvSpPr>
          <p:nvPr/>
        </p:nvSpPr>
        <p:spPr>
          <a:xfrm xmlns:a="http://schemas.openxmlformats.org/drawingml/2006/main">
            <a:off x="6572250" y="1228725"/>
            <a:ext cx="2190750" cy="2552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11111"/>
                </a:solidFill>
                <a:latin typeface="Arial"/>
                <a:ea typeface="Arial"/>
                <a:cs typeface="Arial"/>
              </a:defRPr>
            </a:defPPr>
          </a:lstStyle>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Colour: group</a:t>
            </a:r>
          </a:p>
          <a:p xmlns:a="http://schemas.openxmlformats.org/drawingml/2006/main">
            <a:r>
              <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Square: happy</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X: unhappy</a:t>
            </a:r>
          </a:p>
          <a:p xmlns:a="http://schemas.openxmlformats.org/drawingml/2006/main">
            <a:r>
              <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Now students can see</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clustering and satisfaction</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at the same time.</a:t>
            </a:r>
          </a:p>
        </p:txBody>
      </p:sp>
      <p:sp>
        <p:nvSpPr>
          <p:cNvPr id="6" name="">
            <a:extLst xmlns:a="http://schemas.openxmlformats.org/drawingml/2006/main">
              <a:ext uri="{FF2B5EF4-FFF2-40B4-BE49-F238E27FC236}">
                <a16:creationId xmlns:a16="http://schemas.microsoft.com/office/drawing/2014/main" id="{4955CFEB-FAAD-4E37-B73D-F5084E646B7A}"/>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Design detail: set size in both modes for consistent switching.</a:t>
            </a:r>
          </a:p>
        </p:txBody>
      </p:sp>
    </p:spTree>
    <p:extLst>
      <p:ext uri="{BB962C8B-B14F-4D97-AF65-F5344CB8AC3E}">
        <p14:creationId xmlns:p14="http://schemas.microsoft.com/office/powerpoint/2010/main" val="947672197"/>
      </p:ext>
    </p:extLst>
  </p:cSld>
</p:sld>
</file>

<file path=ppt/slides/slide21.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0F44A3-6B0D-4921-9145-529DF0C008F8}"/>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Globals: unhappiness</a:t>
            </a:r>
          </a:p>
        </p:txBody>
      </p:sp>
      <p:sp>
        <p:nvSpPr>
          <p:cNvPr id="2" name="">
            <a:extLst xmlns:a="http://schemas.openxmlformats.org/drawingml/2006/main">
              <a:ext uri="{FF2B5EF4-FFF2-40B4-BE49-F238E27FC236}">
                <a16:creationId xmlns:a16="http://schemas.microsoft.com/office/drawing/2014/main" id="{5803DFD0-6314-4C08-B52D-DE583CD0C71A}"/>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Original model code excerpt</a:t>
            </a:r>
          </a:p>
        </p:txBody>
      </p:sp>
      <p:sp>
        <p:nvSpPr>
          <p:cNvPr id="3" name="">
            <a:extLst xmlns:a="http://schemas.openxmlformats.org/drawingml/2006/main">
              <a:ext uri="{FF2B5EF4-FFF2-40B4-BE49-F238E27FC236}">
                <a16:creationId xmlns:a16="http://schemas.microsoft.com/office/drawing/2014/main" id="{41FED4DB-7A83-4240-BBA3-E24FEE9C9B19}"/>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F4C12EF2-0FC0-49F8-890E-3F2C74E8F384}"/>
              </a:ext>
            </a:extLst>
          </p:cNvPr>
          <p:cNvSpPr>
            <a:spLocks xmlns:a="http://schemas.openxmlformats.org/drawingml/2006/main" noGrp="1"/>
          </p:cNvSpPr>
          <p:nvPr/>
        </p:nvSpPr>
        <p:spPr>
          <a:xfrm xmlns:a="http://schemas.openxmlformats.org/drawingml/2006/main">
            <a:off x="381000" y="1238250"/>
            <a:ext cx="8286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75A50"/>
                </a:solidFill>
                <a:latin typeface="Courier New"/>
                <a:ea typeface="Courier New"/>
                <a:cs typeface="Courier New"/>
              </a:defRPr>
            </a:defPPr>
          </a:lstStyle>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set percent-unhappy</a:t>
            </a:r>
          </a:p>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  (count turtles with [ not happy? ]) /</a:t>
            </a:r>
          </a:p>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  (count turtles) * 100</a:t>
            </a:r>
          </a:p>
        </p:txBody>
      </p:sp>
      <p:sp>
        <p:nvSpPr>
          <p:cNvPr id="5" name="">
            <a:extLst xmlns:a="http://schemas.openxmlformats.org/drawingml/2006/main">
              <a:ext uri="{FF2B5EF4-FFF2-40B4-BE49-F238E27FC236}">
                <a16:creationId xmlns:a16="http://schemas.microsoft.com/office/drawing/2014/main" id="{DF13207C-2C50-409E-92CB-0EB2FA6BBC34}"/>
              </a:ext>
            </a:extLst>
          </p:cNvPr>
          <p:cNvSpPr>
            <a:spLocks xmlns:a="http://schemas.openxmlformats.org/drawingml/2006/main" noGrp="1"/>
          </p:cNvSpPr>
          <p:nvPr/>
        </p:nvSpPr>
        <p:spPr>
          <a:xfrm xmlns:a="http://schemas.openxmlformats.org/drawingml/2006/main">
            <a:off x="381000" y="2819400"/>
            <a:ext cx="8286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11111"/>
                </a:solidFill>
                <a:latin typeface="Arial"/>
                <a:ea typeface="Arial"/>
                <a:cs typeface="Arial"/>
              </a:defRPr>
            </a:defPPr>
          </a:lstStyle>
          <a:p xmlns:a="http://schemas.openxmlformats.org/drawingml/2006/main">
            <a:pPr>
              <a:defRPr sz="1950" b="0">
                <a:solidFill>
                  <a:srgbClr val="111111"/>
                </a:solidFill>
                <a:latin typeface="Arial"/>
                <a:ea typeface="Arial"/>
                <a:cs typeface="Arial"/>
              </a:defRPr>
            </a:pPr>
            <a:r>
              <a:rPr sz="1950" b="0">
                <a:solidFill>
                  <a:srgbClr val="111111"/>
                </a:solidFill>
                <a:latin typeface="Arial"/>
                <a:ea typeface="Arial"/>
                <a:cs typeface="Arial"/>
              </a:rPr>
              <a:t>Individual level: happy?</a:t>
            </a:r>
          </a:p>
          <a:p xmlns:a="http://schemas.openxmlformats.org/drawingml/2006/main">
            <a:pPr>
              <a:defRPr sz="1950" b="0">
                <a:solidFill>
                  <a:srgbClr val="111111"/>
                </a:solidFill>
                <a:latin typeface="Arial"/>
                <a:ea typeface="Arial"/>
                <a:cs typeface="Arial"/>
              </a:defRPr>
            </a:pPr>
            <a:r>
              <a:rPr sz="1950" b="0">
                <a:solidFill>
                  <a:srgbClr val="111111"/>
                </a:solidFill>
                <a:latin typeface="Arial"/>
                <a:ea typeface="Arial"/>
                <a:cs typeface="Arial"/>
              </a:rPr>
              <a:t>Collective level: percent-unhappy</a:t>
            </a:r>
          </a:p>
          <a:p xmlns:a="http://schemas.openxmlformats.org/drawingml/2006/main">
            <a:r>
              <a:t/>
            </a:r>
          </a:p>
          <a:p xmlns:a="http://schemas.openxmlformats.org/drawingml/2006/main">
            <a:pPr>
              <a:defRPr sz="1950" b="0">
                <a:solidFill>
                  <a:srgbClr val="111111"/>
                </a:solidFill>
                <a:latin typeface="Arial"/>
                <a:ea typeface="Arial"/>
                <a:cs typeface="Arial"/>
              </a:defRPr>
            </a:pPr>
            <a:r>
              <a:rPr sz="1950" b="0">
                <a:solidFill>
                  <a:srgbClr val="111111"/>
                </a:solidFill>
                <a:latin typeface="Arial"/>
                <a:ea typeface="Arial"/>
                <a:cs typeface="Arial"/>
              </a:rPr>
              <a:t>The Number-unhappy plot shows a count.</a:t>
            </a:r>
          </a:p>
          <a:p xmlns:a="http://schemas.openxmlformats.org/drawingml/2006/main">
            <a:pPr>
              <a:defRPr sz="1950" b="0">
                <a:solidFill>
                  <a:srgbClr val="111111"/>
                </a:solidFill>
                <a:latin typeface="Arial"/>
                <a:ea typeface="Arial"/>
                <a:cs typeface="Arial"/>
              </a:defRPr>
            </a:pPr>
            <a:r>
              <a:rPr sz="1950" b="0">
                <a:solidFill>
                  <a:srgbClr val="111111"/>
                </a:solidFill>
                <a:latin typeface="Arial"/>
                <a:ea typeface="Arial"/>
                <a:cs typeface="Arial"/>
              </a:rPr>
              <a:t>The % unhappy monitor shows a percentage.</a:t>
            </a:r>
          </a:p>
        </p:txBody>
      </p:sp>
    </p:spTree>
    <p:extLst>
      <p:ext uri="{BB962C8B-B14F-4D97-AF65-F5344CB8AC3E}">
        <p14:creationId xmlns:p14="http://schemas.microsoft.com/office/powerpoint/2010/main" val="445151262"/>
      </p:ext>
    </p:extLst>
  </p:cSld>
</p:sld>
</file>

<file path=ppt/slides/slide22.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795F51-6CE2-42B2-86A2-EBA14DF1B280}"/>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Globals: similarity</a:t>
            </a:r>
          </a:p>
        </p:txBody>
      </p:sp>
      <p:sp>
        <p:nvSpPr>
          <p:cNvPr id="2" name="">
            <a:extLst xmlns:a="http://schemas.openxmlformats.org/drawingml/2006/main">
              <a:ext uri="{FF2B5EF4-FFF2-40B4-BE49-F238E27FC236}">
                <a16:creationId xmlns:a16="http://schemas.microsoft.com/office/drawing/2014/main" id="{B5245C60-5DBF-4BC4-83CD-76195BA80671}"/>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Original model code excerpt</a:t>
            </a:r>
          </a:p>
        </p:txBody>
      </p:sp>
      <p:sp>
        <p:nvSpPr>
          <p:cNvPr id="3" name="">
            <a:extLst xmlns:a="http://schemas.openxmlformats.org/drawingml/2006/main">
              <a:ext uri="{FF2B5EF4-FFF2-40B4-BE49-F238E27FC236}">
                <a16:creationId xmlns:a16="http://schemas.microsoft.com/office/drawing/2014/main" id="{783B7BBC-E01F-4FF7-B435-05CB476D68A0}"/>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22</a:t>
            </a:r>
          </a:p>
        </p:txBody>
      </p:sp>
      <p:sp>
        <p:nvSpPr>
          <p:cNvPr id="4" name="">
            <a:extLst xmlns:a="http://schemas.openxmlformats.org/drawingml/2006/main">
              <a:ext uri="{FF2B5EF4-FFF2-40B4-BE49-F238E27FC236}">
                <a16:creationId xmlns:a16="http://schemas.microsoft.com/office/drawing/2014/main" id="{64F7FDD3-B737-45E7-B14A-1563638C733E}"/>
              </a:ext>
            </a:extLst>
          </p:cNvPr>
          <p:cNvSpPr>
            <a:spLocks xmlns:a="http://schemas.openxmlformats.org/drawingml/2006/main" noGrp="1"/>
          </p:cNvSpPr>
          <p:nvPr/>
        </p:nvSpPr>
        <p:spPr>
          <a:xfrm xmlns:a="http://schemas.openxmlformats.org/drawingml/2006/main">
            <a:off x="381000" y="1133475"/>
            <a:ext cx="8286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075A50"/>
                </a:solidFill>
                <a:latin typeface="Courier New"/>
                <a:ea typeface="Courier New"/>
                <a:cs typeface="Courier New"/>
              </a:defRPr>
            </a:defPPr>
          </a:lstStyle>
          <a:p xmlns:a="http://schemas.openxmlformats.org/drawingml/2006/main">
            <a:pPr>
              <a:defRPr sz="1800" b="0">
                <a:solidFill>
                  <a:srgbClr val="075A50"/>
                </a:solidFill>
                <a:latin typeface="Courier New"/>
                <a:ea typeface="Courier New"/>
                <a:cs typeface="Courier New"/>
              </a:defRPr>
            </a:pPr>
            <a:r>
              <a:rPr sz="1800" b="0">
                <a:solidFill>
                  <a:srgbClr val="075A50"/>
                </a:solidFill>
                <a:latin typeface="Courier New"/>
                <a:ea typeface="Courier New"/>
                <a:cs typeface="Courier New"/>
              </a:rPr>
              <a:t>let similar-neighbors</a:t>
            </a:r>
          </a:p>
          <a:p xmlns:a="http://schemas.openxmlformats.org/drawingml/2006/main">
            <a:pPr>
              <a:defRPr sz="1800" b="0">
                <a:solidFill>
                  <a:srgbClr val="075A50"/>
                </a:solidFill>
                <a:latin typeface="Courier New"/>
                <a:ea typeface="Courier New"/>
                <a:cs typeface="Courier New"/>
              </a:defRPr>
            </a:pPr>
            <a:r>
              <a:rPr sz="1800" b="0">
                <a:solidFill>
                  <a:srgbClr val="075A50"/>
                </a:solidFill>
                <a:latin typeface="Courier New"/>
                <a:ea typeface="Courier New"/>
                <a:cs typeface="Courier New"/>
              </a:rPr>
              <a:t>  sum [ similar-nearby ] of turtles</a:t>
            </a:r>
          </a:p>
          <a:p xmlns:a="http://schemas.openxmlformats.org/drawingml/2006/main">
            <a:pPr>
              <a:defRPr sz="1800" b="0">
                <a:solidFill>
                  <a:srgbClr val="075A50"/>
                </a:solidFill>
                <a:latin typeface="Courier New"/>
                <a:ea typeface="Courier New"/>
                <a:cs typeface="Courier New"/>
              </a:defRPr>
            </a:pPr>
            <a:r>
              <a:rPr sz="1800" b="0">
                <a:solidFill>
                  <a:srgbClr val="075A50"/>
                </a:solidFill>
                <a:latin typeface="Courier New"/>
                <a:ea typeface="Courier New"/>
                <a:cs typeface="Courier New"/>
              </a:rPr>
              <a:t>let total-neighbors</a:t>
            </a:r>
          </a:p>
          <a:p xmlns:a="http://schemas.openxmlformats.org/drawingml/2006/main">
            <a:pPr>
              <a:defRPr sz="1800" b="0">
                <a:solidFill>
                  <a:srgbClr val="075A50"/>
                </a:solidFill>
                <a:latin typeface="Courier New"/>
                <a:ea typeface="Courier New"/>
                <a:cs typeface="Courier New"/>
              </a:defRPr>
            </a:pPr>
            <a:r>
              <a:rPr sz="1800" b="0">
                <a:solidFill>
                  <a:srgbClr val="075A50"/>
                </a:solidFill>
                <a:latin typeface="Courier New"/>
                <a:ea typeface="Courier New"/>
                <a:cs typeface="Courier New"/>
              </a:rPr>
              <a:t>  sum [ total-nearby ] of turtles</a:t>
            </a:r>
          </a:p>
          <a:p xmlns:a="http://schemas.openxmlformats.org/drawingml/2006/main">
            <a:pPr>
              <a:defRPr sz="1800" b="0">
                <a:solidFill>
                  <a:srgbClr val="075A50"/>
                </a:solidFill>
                <a:latin typeface="Courier New"/>
                <a:ea typeface="Courier New"/>
                <a:cs typeface="Courier New"/>
              </a:defRPr>
            </a:pPr>
            <a:r>
              <a:rPr sz="1800" b="0">
                <a:solidFill>
                  <a:srgbClr val="075A50"/>
                </a:solidFill>
                <a:latin typeface="Courier New"/>
                <a:ea typeface="Courier New"/>
                <a:cs typeface="Courier New"/>
              </a:rPr>
              <a:t>set percent-similar</a:t>
            </a:r>
          </a:p>
          <a:p xmlns:a="http://schemas.openxmlformats.org/drawingml/2006/main">
            <a:pPr>
              <a:defRPr sz="1800" b="0">
                <a:solidFill>
                  <a:srgbClr val="075A50"/>
                </a:solidFill>
                <a:latin typeface="Courier New"/>
                <a:ea typeface="Courier New"/>
                <a:cs typeface="Courier New"/>
              </a:defRPr>
            </a:pPr>
            <a:r>
              <a:rPr sz="1800" b="0">
                <a:solidFill>
                  <a:srgbClr val="075A50"/>
                </a:solidFill>
                <a:latin typeface="Courier New"/>
                <a:ea typeface="Courier New"/>
                <a:cs typeface="Courier New"/>
              </a:rPr>
              <a:t>  (similar-neighbors / total-neighbors) * 100</a:t>
            </a:r>
          </a:p>
        </p:txBody>
      </p:sp>
      <p:sp>
        <p:nvSpPr>
          <p:cNvPr id="5" name="">
            <a:extLst xmlns:a="http://schemas.openxmlformats.org/drawingml/2006/main">
              <a:ext uri="{FF2B5EF4-FFF2-40B4-BE49-F238E27FC236}">
                <a16:creationId xmlns:a16="http://schemas.microsoft.com/office/drawing/2014/main" id="{6842B9DA-DD6E-46D3-8F40-9CA67E7EDDDF}"/>
              </a:ext>
            </a:extLst>
          </p:cNvPr>
          <p:cNvSpPr>
            <a:spLocks xmlns:a="http://schemas.openxmlformats.org/drawingml/2006/main" noGrp="1"/>
          </p:cNvSpPr>
          <p:nvPr/>
        </p:nvSpPr>
        <p:spPr>
          <a:xfrm xmlns:a="http://schemas.openxmlformats.org/drawingml/2006/main">
            <a:off x="381000" y="3390900"/>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This pools neighbour counts across turtles.</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Turtles with more neighbours contribute more weight.</a:t>
            </a:r>
          </a:p>
        </p:txBody>
      </p:sp>
      <p:sp>
        <p:nvSpPr>
          <p:cNvPr id="6" name="">
            <a:extLst xmlns:a="http://schemas.openxmlformats.org/drawingml/2006/main">
              <a:ext uri="{FF2B5EF4-FFF2-40B4-BE49-F238E27FC236}">
                <a16:creationId xmlns:a16="http://schemas.microsoft.com/office/drawing/2014/main" id="{E0CC28FD-92C6-43A5-BF26-ACA58B5D69AE}"/>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Read the calculation as well as the comment.</a:t>
            </a:r>
          </a:p>
        </p:txBody>
      </p:sp>
    </p:spTree>
    <p:extLst>
      <p:ext uri="{BB962C8B-B14F-4D97-AF65-F5344CB8AC3E}">
        <p14:creationId xmlns:p14="http://schemas.microsoft.com/office/powerpoint/2010/main" val="101581897"/>
      </p:ext>
    </p:extLst>
  </p:cSld>
</p:sld>
</file>

<file path=ppt/slides/slide23.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BB287DF-9893-4F7A-8680-8569FFED705F}"/>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Four As recovered from the model</a:t>
            </a:r>
          </a:p>
        </p:txBody>
      </p:sp>
      <p:sp>
        <p:nvSpPr>
          <p:cNvPr id="2" name="">
            <a:extLst xmlns:a="http://schemas.openxmlformats.org/drawingml/2006/main">
              <a:ext uri="{FF2B5EF4-FFF2-40B4-BE49-F238E27FC236}">
                <a16:creationId xmlns:a16="http://schemas.microsoft.com/office/drawing/2014/main" id="{60DF5A32-0199-4A3B-8D63-8B8373312E79}"/>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Teaching reconstruction</a:t>
            </a:r>
          </a:p>
        </p:txBody>
      </p:sp>
      <p:sp>
        <p:nvSpPr>
          <p:cNvPr id="3" name="">
            <a:extLst xmlns:a="http://schemas.openxmlformats.org/drawingml/2006/main">
              <a:ext uri="{FF2B5EF4-FFF2-40B4-BE49-F238E27FC236}">
                <a16:creationId xmlns:a16="http://schemas.microsoft.com/office/drawing/2014/main" id="{AF9F07DD-5F24-489E-BD46-64DBB5850B8F}"/>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23</a:t>
            </a:r>
          </a:p>
        </p:txBody>
      </p:sp>
      <p:sp>
        <p:nvSpPr>
          <p:cNvPr id="4" name="">
            <a:extLst xmlns:a="http://schemas.openxmlformats.org/drawingml/2006/main">
              <a:ext uri="{FF2B5EF4-FFF2-40B4-BE49-F238E27FC236}">
                <a16:creationId xmlns:a16="http://schemas.microsoft.com/office/drawing/2014/main" id="{32123747-1DBC-41EB-B2E2-56B94B63FD3A}"/>
              </a:ext>
            </a:extLst>
          </p:cNvPr>
          <p:cNvSpPr>
            <a:spLocks xmlns:a="http://schemas.openxmlformats.org/drawingml/2006/main" noGrp="1"/>
          </p:cNvSpPr>
          <p:nvPr/>
        </p:nvSpPr>
        <p:spPr>
          <a:xfrm xmlns:a="http://schemas.openxmlformats.org/drawingml/2006/main">
            <a:off x="381000" y="120967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EF1616"/>
                </a:solidFill>
                <a:latin typeface="Arial"/>
                <a:ea typeface="Arial"/>
                <a:cs typeface="Arial"/>
              </a:defRPr>
            </a:defPPr>
          </a:lstStyle>
          <a:p xmlns:a="http://schemas.openxmlformats.org/drawingml/2006/main">
            <a:pPr>
              <a:defRPr sz="1950" b="1">
                <a:solidFill>
                  <a:srgbClr val="EF1616"/>
                </a:solidFill>
                <a:latin typeface="Arial"/>
                <a:ea typeface="Arial"/>
                <a:cs typeface="Arial"/>
              </a:defRPr>
            </a:pPr>
            <a:r>
              <a:rPr sz="1950" b="1">
                <a:solidFill>
                  <a:srgbClr val="EF1616"/>
                </a:solidFill>
                <a:latin typeface="Arial"/>
                <a:ea typeface="Arial"/>
                <a:cs typeface="Arial"/>
              </a:rPr>
              <a:t>A1  Agent</a:t>
            </a:r>
          </a:p>
        </p:txBody>
      </p:sp>
      <p:sp>
        <p:nvSpPr>
          <p:cNvPr id="5" name="">
            <a:extLst xmlns:a="http://schemas.openxmlformats.org/drawingml/2006/main">
              <a:ext uri="{FF2B5EF4-FFF2-40B4-BE49-F238E27FC236}">
                <a16:creationId xmlns:a16="http://schemas.microsoft.com/office/drawing/2014/main" id="{961FD7D8-B222-43C0-937D-EBD5C53B3C62}"/>
              </a:ext>
            </a:extLst>
          </p:cNvPr>
          <p:cNvSpPr>
            <a:spLocks xmlns:a="http://schemas.openxmlformats.org/drawingml/2006/main" noGrp="1"/>
          </p:cNvSpPr>
          <p:nvPr/>
        </p:nvSpPr>
        <p:spPr>
          <a:xfrm xmlns:a="http://schemas.openxmlformats.org/drawingml/2006/main">
            <a:off x="3238500" y="1209675"/>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Individuals, represented by turtles</a:t>
            </a:r>
          </a:p>
        </p:txBody>
      </p:sp>
      <p:sp>
        <p:nvSpPr>
          <p:cNvPr id="6" name="">
            <a:extLst xmlns:a="http://schemas.openxmlformats.org/drawingml/2006/main">
              <a:ext uri="{FF2B5EF4-FFF2-40B4-BE49-F238E27FC236}">
                <a16:creationId xmlns:a16="http://schemas.microsoft.com/office/drawing/2014/main" id="{9D46EEDA-1247-46DB-86E9-9FF3AF0EF46C}"/>
              </a:ext>
            </a:extLst>
          </p:cNvPr>
          <p:cNvSpPr>
            <a:spLocks xmlns:a="http://schemas.openxmlformats.org/drawingml/2006/main" noGrp="1"/>
          </p:cNvSpPr>
          <p:nvPr/>
        </p:nvSpPr>
        <p:spPr>
          <a:xfrm xmlns:a="http://schemas.openxmlformats.org/drawingml/2006/main">
            <a:off x="381000" y="195262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EF1616"/>
                </a:solidFill>
                <a:latin typeface="Arial"/>
                <a:ea typeface="Arial"/>
                <a:cs typeface="Arial"/>
              </a:defRPr>
            </a:defPPr>
          </a:lstStyle>
          <a:p xmlns:a="http://schemas.openxmlformats.org/drawingml/2006/main">
            <a:pPr>
              <a:defRPr sz="1950" b="1">
                <a:solidFill>
                  <a:srgbClr val="EF1616"/>
                </a:solidFill>
                <a:latin typeface="Arial"/>
                <a:ea typeface="Arial"/>
                <a:cs typeface="Arial"/>
              </a:defRPr>
            </a:pPr>
            <a:r>
              <a:rPr sz="1950" b="1">
                <a:solidFill>
                  <a:srgbClr val="EF1616"/>
                </a:solidFill>
                <a:latin typeface="Arial"/>
                <a:ea typeface="Arial"/>
                <a:cs typeface="Arial"/>
              </a:rPr>
              <a:t>A2  Arena</a:t>
            </a:r>
          </a:p>
        </p:txBody>
      </p:sp>
      <p:sp>
        <p:nvSpPr>
          <p:cNvPr id="7" name="">
            <a:extLst xmlns:a="http://schemas.openxmlformats.org/drawingml/2006/main">
              <a:ext uri="{FF2B5EF4-FFF2-40B4-BE49-F238E27FC236}">
                <a16:creationId xmlns:a16="http://schemas.microsoft.com/office/drawing/2014/main" id="{10AD0B8E-56D7-4882-B287-6D2345F91AA0}"/>
              </a:ext>
            </a:extLst>
          </p:cNvPr>
          <p:cNvSpPr>
            <a:spLocks xmlns:a="http://schemas.openxmlformats.org/drawingml/2006/main" noGrp="1"/>
          </p:cNvSpPr>
          <p:nvPr/>
        </p:nvSpPr>
        <p:spPr>
          <a:xfrm xmlns:a="http://schemas.openxmlformats.org/drawingml/2006/main">
            <a:off x="3238500" y="1952625"/>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Residential locations, represented by patches</a:t>
            </a:r>
          </a:p>
        </p:txBody>
      </p:sp>
      <p:sp>
        <p:nvSpPr>
          <p:cNvPr id="8" name="">
            <a:extLst xmlns:a="http://schemas.openxmlformats.org/drawingml/2006/main">
              <a:ext uri="{FF2B5EF4-FFF2-40B4-BE49-F238E27FC236}">
                <a16:creationId xmlns:a16="http://schemas.microsoft.com/office/drawing/2014/main" id="{8453AC18-75FD-4EB8-A764-F255391C54F2}"/>
              </a:ext>
            </a:extLst>
          </p:cNvPr>
          <p:cNvSpPr>
            <a:spLocks xmlns:a="http://schemas.openxmlformats.org/drawingml/2006/main" noGrp="1"/>
          </p:cNvSpPr>
          <p:nvPr/>
        </p:nvSpPr>
        <p:spPr>
          <a:xfrm xmlns:a="http://schemas.openxmlformats.org/drawingml/2006/main">
            <a:off x="381000" y="269557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EF1616"/>
                </a:solidFill>
                <a:latin typeface="Arial"/>
                <a:ea typeface="Arial"/>
                <a:cs typeface="Arial"/>
              </a:defRPr>
            </a:defPPr>
          </a:lstStyle>
          <a:p xmlns:a="http://schemas.openxmlformats.org/drawingml/2006/main">
            <a:pPr>
              <a:defRPr sz="1950" b="1">
                <a:solidFill>
                  <a:srgbClr val="EF1616"/>
                </a:solidFill>
                <a:latin typeface="Arial"/>
                <a:ea typeface="Arial"/>
                <a:cs typeface="Arial"/>
              </a:defRPr>
            </a:pPr>
            <a:r>
              <a:rPr sz="1950" b="1">
                <a:solidFill>
                  <a:srgbClr val="EF1616"/>
                </a:solidFill>
                <a:latin typeface="Arial"/>
                <a:ea typeface="Arial"/>
                <a:cs typeface="Arial"/>
              </a:rPr>
              <a:t>A3  Artificiality</a:t>
            </a:r>
          </a:p>
        </p:txBody>
      </p:sp>
      <p:sp>
        <p:nvSpPr>
          <p:cNvPr id="9" name="">
            <a:extLst xmlns:a="http://schemas.openxmlformats.org/drawingml/2006/main">
              <a:ext uri="{FF2B5EF4-FFF2-40B4-BE49-F238E27FC236}">
                <a16:creationId xmlns:a16="http://schemas.microsoft.com/office/drawing/2014/main" id="{44505D2A-2DC5-48D8-B98A-B2252B9B2E8A}"/>
              </a:ext>
            </a:extLst>
          </p:cNvPr>
          <p:cNvSpPr>
            <a:spLocks xmlns:a="http://schemas.openxmlformats.org/drawingml/2006/main" noGrp="1"/>
          </p:cNvSpPr>
          <p:nvPr/>
        </p:nvSpPr>
        <p:spPr>
          <a:xfrm xmlns:a="http://schemas.openxmlformats.org/drawingml/2006/main">
            <a:off x="3238500" y="2695575"/>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No explicit housing market or institutions</a:t>
            </a:r>
          </a:p>
        </p:txBody>
      </p:sp>
      <p:sp>
        <p:nvSpPr>
          <p:cNvPr id="10" name="">
            <a:extLst xmlns:a="http://schemas.openxmlformats.org/drawingml/2006/main">
              <a:ext uri="{FF2B5EF4-FFF2-40B4-BE49-F238E27FC236}">
                <a16:creationId xmlns:a16="http://schemas.microsoft.com/office/drawing/2014/main" id="{500633BD-D1AB-4F40-ADC1-FE73C93B2F0E}"/>
              </a:ext>
            </a:extLst>
          </p:cNvPr>
          <p:cNvSpPr>
            <a:spLocks xmlns:a="http://schemas.openxmlformats.org/drawingml/2006/main" noGrp="1"/>
          </p:cNvSpPr>
          <p:nvPr/>
        </p:nvSpPr>
        <p:spPr>
          <a:xfrm xmlns:a="http://schemas.openxmlformats.org/drawingml/2006/main">
            <a:off x="381000" y="3438525"/>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EF1616"/>
                </a:solidFill>
                <a:latin typeface="Arial"/>
                <a:ea typeface="Arial"/>
                <a:cs typeface="Arial"/>
              </a:defRPr>
            </a:defPPr>
          </a:lstStyle>
          <a:p xmlns:a="http://schemas.openxmlformats.org/drawingml/2006/main">
            <a:pPr>
              <a:defRPr sz="1950" b="1">
                <a:solidFill>
                  <a:srgbClr val="EF1616"/>
                </a:solidFill>
                <a:latin typeface="Arial"/>
                <a:ea typeface="Arial"/>
                <a:cs typeface="Arial"/>
              </a:defRPr>
            </a:pPr>
            <a:r>
              <a:rPr sz="1950" b="1">
                <a:solidFill>
                  <a:srgbClr val="EF1616"/>
                </a:solidFill>
                <a:latin typeface="Arial"/>
                <a:ea typeface="Arial"/>
                <a:cs typeface="Arial"/>
              </a:rPr>
              <a:t>A4  Array</a:t>
            </a:r>
          </a:p>
        </p:txBody>
      </p:sp>
      <p:sp>
        <p:nvSpPr>
          <p:cNvPr id="11" name="">
            <a:extLst xmlns:a="http://schemas.openxmlformats.org/drawingml/2006/main">
              <a:ext uri="{FF2B5EF4-FFF2-40B4-BE49-F238E27FC236}">
                <a16:creationId xmlns:a16="http://schemas.microsoft.com/office/drawing/2014/main" id="{C3E3F977-6A59-4349-9A1F-FE8247DEEE1E}"/>
              </a:ext>
            </a:extLst>
          </p:cNvPr>
          <p:cNvSpPr>
            <a:spLocks xmlns:a="http://schemas.openxmlformats.org/drawingml/2006/main" noGrp="1"/>
          </p:cNvSpPr>
          <p:nvPr/>
        </p:nvSpPr>
        <p:spPr>
          <a:xfrm xmlns:a="http://schemas.openxmlformats.org/drawingml/2006/main">
            <a:off x="3238500" y="3438525"/>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Occupancy and spatial neighbourhood relations</a:t>
            </a:r>
          </a:p>
        </p:txBody>
      </p:sp>
    </p:spTree>
    <p:extLst>
      <p:ext uri="{BB962C8B-B14F-4D97-AF65-F5344CB8AC3E}">
        <p14:creationId xmlns:p14="http://schemas.microsoft.com/office/powerpoint/2010/main" val="2114862788"/>
      </p:ext>
    </p:extLst>
  </p:cSld>
</p:sld>
</file>

<file path=ppt/slides/slide24.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BAB244CF-8A7A-4D08-AAE8-D1E0FA920C34}"/>
              </a:ext>
            </a:extLst>
          </p:cNvPr>
          <p:cNvCxnSpPr>
            <a:stCxn xmlns:a="http://schemas.openxmlformats.org/drawingml/2006/main" id="4" idx="3"/>
            <a:endCxn xmlns:a="http://schemas.openxmlformats.org/drawingml/2006/main" id="10" idx="1"/>
          </p:cNvCxnSpPr>
          <p:nvPr/>
        </p:nvCxnSpPr>
        <p:spPr>
          <a:xfrm xmlns:a="http://schemas.openxmlformats.org/drawingml/2006/main">
            <a:off x="3571875" y="2662238"/>
            <a:ext cx="2095500" cy="0"/>
          </a:xfrm>
          <a:prstGeom xmlns:a="http://schemas.openxmlformats.org/drawingml/2006/main" prst="straightConnector1">
            <a:avLst/>
          </a:prstGeom>
          <a:ln xmlns:a="http://schemas.openxmlformats.org/drawingml/2006/main" w="19050">
            <a:solidFill>
              <a:srgbClr val="21A899"/>
            </a:solidFill>
            <a:tailEnd type="none" w="med" len="med"/>
          </a:ln>
        </p:spPr>
      </p:cxnSp>
      <p:sp>
        <p:nvSpPr>
          <p:cNvPr id="20" name="">
            <a:extLst xmlns:a="http://schemas.openxmlformats.org/drawingml/2006/main">
              <a:ext uri="{FF2B5EF4-FFF2-40B4-BE49-F238E27FC236}">
                <a16:creationId xmlns:a16="http://schemas.microsoft.com/office/drawing/2014/main" id="{E926DAE4-22DC-40DC-A104-55EEFD339BCF}"/>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Recovered LUL ontology</a:t>
            </a:r>
          </a:p>
        </p:txBody>
      </p:sp>
      <p:sp>
        <p:nvSpPr>
          <p:cNvPr id="2" name="">
            <a:extLst xmlns:a="http://schemas.openxmlformats.org/drawingml/2006/main">
              <a:ext uri="{FF2B5EF4-FFF2-40B4-BE49-F238E27FC236}">
                <a16:creationId xmlns:a16="http://schemas.microsoft.com/office/drawing/2014/main" id="{830AA24D-6BBB-4EEF-B1BF-CBC1EB24B306}"/>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Teaching reconstruction</a:t>
            </a:r>
          </a:p>
        </p:txBody>
      </p:sp>
      <p:sp>
        <p:nvSpPr>
          <p:cNvPr id="3" name="">
            <a:extLst xmlns:a="http://schemas.openxmlformats.org/drawingml/2006/main">
              <a:ext uri="{FF2B5EF4-FFF2-40B4-BE49-F238E27FC236}">
                <a16:creationId xmlns:a16="http://schemas.microsoft.com/office/drawing/2014/main" id="{1276E832-440C-48D6-8280-22BA30BEB86D}"/>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24</a:t>
            </a:r>
          </a:p>
        </p:txBody>
      </p:sp>
      <p:sp>
        <p:nvSpPr>
          <p:cNvPr id="4" name="">
            <a:extLst xmlns:a="http://schemas.openxmlformats.org/drawingml/2006/main">
              <a:ext uri="{FF2B5EF4-FFF2-40B4-BE49-F238E27FC236}">
                <a16:creationId xmlns:a16="http://schemas.microsoft.com/office/drawing/2014/main" id="{8A538925-6D38-4540-BF0F-83B7FAF33CFF}"/>
              </a:ext>
            </a:extLst>
          </p:cNvPr>
          <p:cNvSpPr>
            <a:spLocks xmlns:a="http://schemas.openxmlformats.org/drawingml/2006/main" noGrp="1"/>
          </p:cNvSpPr>
          <p:nvPr/>
        </p:nvSpPr>
        <p:spPr>
          <a:xfrm xmlns:a="http://schemas.openxmlformats.org/drawingml/2006/main">
            <a:off x="428625" y="1066800"/>
            <a:ext cx="3143250" cy="3190875"/>
          </a:xfrm>
          <a:prstGeom xmlns:a="http://schemas.openxmlformats.org/drawingml/2006/main" prst="rect">
            <a:avLst/>
          </a:prstGeom>
          <a:solidFill xmlns:a="http://schemas.openxmlformats.org/drawingml/2006/main">
            <a:srgbClr val="FFFFFF"/>
          </a:solidFill>
          <a:ln xmlns:a="http://schemas.openxmlformats.org/drawingml/2006/main" w="12383">
            <a:solidFill>
              <a:srgbClr val="21A899"/>
            </a:solidFill>
          </a:ln>
        </p:spPr>
        <p:txBody>
          <a:bodyPr xmlns:a="http://schemas.openxmlformats.org/drawingml/2006/main" lIns="76200" tIns="76200" rIns="76200" bIns="76200" anchor="ctr"/>
          <a:lstStyle xmlns:a="http://schemas.openxmlformats.org/drawingml/2006/main">
            <a:defPPr algn="ctr">
              <a:defRPr sz="1575">
                <a:solidFill>
                  <a:srgbClr val="111111"/>
                </a:solidFill>
                <a:latin typeface="Arial"/>
                <a:ea typeface="Arial"/>
                <a:cs typeface="Arial"/>
              </a:defRPr>
            </a:def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5E799A59-E77D-4AE8-8AA7-5C23CFB22FB6}"/>
              </a:ext>
            </a:extLst>
          </p:cNvPr>
          <p:cNvSpPr>
            <a:spLocks xmlns:a="http://schemas.openxmlformats.org/drawingml/2006/main" noGrp="1"/>
          </p:cNvSpPr>
          <p:nvPr/>
        </p:nvSpPr>
        <p:spPr>
          <a:xfrm xmlns:a="http://schemas.openxmlformats.org/drawingml/2006/main">
            <a:off x="542925" y="11811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11111"/>
                </a:solidFill>
                <a:latin typeface="Arial"/>
                <a:ea typeface="Arial"/>
                <a:cs typeface="Arial"/>
              </a:defRPr>
            </a:defPPr>
          </a:lstStyle>
          <a:p xmlns:a="http://schemas.openxmlformats.org/drawingml/2006/main">
            <a:pPr>
              <a:defRPr sz="1875" b="1">
                <a:solidFill>
                  <a:srgbClr val="111111"/>
                </a:solidFill>
                <a:latin typeface="Arial"/>
                <a:ea typeface="Arial"/>
                <a:cs typeface="Arial"/>
              </a:defRPr>
            </a:pPr>
            <a:r>
              <a:rPr sz="1875" b="1">
                <a:solidFill>
                  <a:srgbClr val="111111"/>
                </a:solidFill>
                <a:latin typeface="Arial"/>
                <a:ea typeface="Arial"/>
                <a:cs typeface="Arial"/>
              </a:rPr>
              <a:t>Individual / A1</a:t>
            </a:r>
          </a:p>
        </p:txBody>
      </p:sp>
      <p:sp>
        <p:nvSpPr>
          <p:cNvPr id="6" name="">
            <a:extLst xmlns:a="http://schemas.openxmlformats.org/drawingml/2006/main">
              <a:ext uri="{FF2B5EF4-FFF2-40B4-BE49-F238E27FC236}">
                <a16:creationId xmlns:a16="http://schemas.microsoft.com/office/drawing/2014/main" id="{580392B9-0D85-48D3-BC7D-16842269D264}"/>
              </a:ext>
            </a:extLst>
          </p:cNvPr>
          <p:cNvSpPr>
            <a:spLocks xmlns:a="http://schemas.openxmlformats.org/drawingml/2006/main" noGrp="1"/>
          </p:cNvSpPr>
          <p:nvPr/>
        </p:nvSpPr>
        <p:spPr>
          <a:xfrm xmlns:a="http://schemas.openxmlformats.org/drawingml/2006/main">
            <a:off x="542925" y="1638300"/>
            <a:ext cx="2914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243AFF"/>
                </a:solidFill>
                <a:latin typeface="Arial"/>
                <a:ea typeface="Arial"/>
                <a:cs typeface="Arial"/>
              </a:defRPr>
            </a:defPPr>
          </a:lstStyle>
          <a:p xmlns:a="http://schemas.openxmlformats.org/drawingml/2006/main">
            <a:pPr>
              <a:defRPr sz="1200" b="1">
                <a:solidFill>
                  <a:srgbClr val="243AFF"/>
                </a:solidFill>
                <a:latin typeface="Arial"/>
                <a:ea typeface="Arial"/>
                <a:cs typeface="Arial"/>
              </a:defRPr>
            </a:pPr>
            <a:r>
              <a:rPr sz="1200" b="1">
                <a:solidFill>
                  <a:srgbClr val="243AFF"/>
                </a:solidFill>
                <a:latin typeface="Arial"/>
                <a:ea typeface="Arial"/>
                <a:cs typeface="Arial"/>
              </a:rPr>
              <a:t>STATES</a:t>
            </a:r>
          </a:p>
        </p:txBody>
      </p:sp>
      <p:sp>
        <p:nvSpPr>
          <p:cNvPr id="7" name="">
            <a:extLst xmlns:a="http://schemas.openxmlformats.org/drawingml/2006/main">
              <a:ext uri="{FF2B5EF4-FFF2-40B4-BE49-F238E27FC236}">
                <a16:creationId xmlns:a16="http://schemas.microsoft.com/office/drawing/2014/main" id="{D42D1952-A6E9-4B69-B71C-872381CAF5F9}"/>
              </a:ext>
            </a:extLst>
          </p:cNvPr>
          <p:cNvSpPr>
            <a:spLocks xmlns:a="http://schemas.openxmlformats.org/drawingml/2006/main" noGrp="1"/>
          </p:cNvSpPr>
          <p:nvPr/>
        </p:nvSpPr>
        <p:spPr>
          <a:xfrm xmlns:a="http://schemas.openxmlformats.org/drawingml/2006/main">
            <a:off x="542925" y="1943100"/>
            <a:ext cx="29146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111111"/>
                </a:solidFill>
                <a:latin typeface="Arial"/>
                <a:ea typeface="Arial"/>
                <a:cs typeface="Arial"/>
              </a:defRPr>
            </a:defPPr>
          </a:lstStyle>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group, location</a:t>
            </a:r>
          </a:p>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happy?</a:t>
            </a:r>
          </a:p>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nearby counts</a:t>
            </a:r>
          </a:p>
        </p:txBody>
      </p:sp>
      <p:sp>
        <p:nvSpPr>
          <p:cNvPr id="8" name="">
            <a:extLst xmlns:a="http://schemas.openxmlformats.org/drawingml/2006/main">
              <a:ext uri="{FF2B5EF4-FFF2-40B4-BE49-F238E27FC236}">
                <a16:creationId xmlns:a16="http://schemas.microsoft.com/office/drawing/2014/main" id="{DDDE0434-0114-48F6-8562-D429D06E2B8D}"/>
              </a:ext>
            </a:extLst>
          </p:cNvPr>
          <p:cNvSpPr>
            <a:spLocks xmlns:a="http://schemas.openxmlformats.org/drawingml/2006/main" noGrp="1"/>
          </p:cNvSpPr>
          <p:nvPr/>
        </p:nvSpPr>
        <p:spPr>
          <a:xfrm xmlns:a="http://schemas.openxmlformats.org/drawingml/2006/main">
            <a:off x="542925" y="3019425"/>
            <a:ext cx="2914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243AFF"/>
                </a:solidFill>
                <a:latin typeface="Arial"/>
                <a:ea typeface="Arial"/>
                <a:cs typeface="Arial"/>
              </a:defRPr>
            </a:defPPr>
          </a:lstStyle>
          <a:p xmlns:a="http://schemas.openxmlformats.org/drawingml/2006/main">
            <a:pPr>
              <a:defRPr sz="1200" b="1">
                <a:solidFill>
                  <a:srgbClr val="243AFF"/>
                </a:solidFill>
                <a:latin typeface="Arial"/>
                <a:ea typeface="Arial"/>
                <a:cs typeface="Arial"/>
              </a:defRPr>
            </a:pPr>
            <a:r>
              <a:rPr sz="1200" b="1">
                <a:solidFill>
                  <a:srgbClr val="243AFF"/>
                </a:solidFill>
                <a:latin typeface="Arial"/>
                <a:ea typeface="Arial"/>
                <a:cs typeface="Arial"/>
              </a:rPr>
              <a:t>CAPABILITIES</a:t>
            </a:r>
          </a:p>
        </p:txBody>
      </p:sp>
      <p:sp>
        <p:nvSpPr>
          <p:cNvPr id="9" name="">
            <a:extLst xmlns:a="http://schemas.openxmlformats.org/drawingml/2006/main">
              <a:ext uri="{FF2B5EF4-FFF2-40B4-BE49-F238E27FC236}">
                <a16:creationId xmlns:a16="http://schemas.microsoft.com/office/drawing/2014/main" id="{18442A79-ECD2-49EA-9770-2112850C1A87}"/>
              </a:ext>
            </a:extLst>
          </p:cNvPr>
          <p:cNvSpPr>
            <a:spLocks xmlns:a="http://schemas.openxmlformats.org/drawingml/2006/main" noGrp="1"/>
          </p:cNvSpPr>
          <p:nvPr/>
        </p:nvSpPr>
        <p:spPr>
          <a:xfrm xmlns:a="http://schemas.openxmlformats.org/drawingml/2006/main">
            <a:off x="542925" y="3333750"/>
            <a:ext cx="2914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111111"/>
                </a:solidFill>
                <a:latin typeface="Arial"/>
                <a:ea typeface="Arial"/>
                <a:cs typeface="Arial"/>
              </a:defRPr>
            </a:defPPr>
          </a:lstStyle>
          <a:p xmlns:a="http://schemas.openxmlformats.org/drawingml/2006/main">
            <a:pPr>
              <a:defRPr sz="1500" b="0">
                <a:solidFill>
                  <a:srgbClr val="111111"/>
                </a:solidFill>
                <a:latin typeface="Arial"/>
                <a:ea typeface="Arial"/>
                <a:cs typeface="Arial"/>
              </a:defRPr>
            </a:pPr>
            <a:r>
              <a:rPr sz="1500" b="0">
                <a:solidFill>
                  <a:srgbClr val="111111"/>
                </a:solidFill>
                <a:latin typeface="Arial"/>
                <a:ea typeface="Arial"/>
                <a:cs typeface="Arial"/>
              </a:rPr>
              <a:t>evaluate neighbourhood</a:t>
            </a:r>
          </a:p>
          <a:p xmlns:a="http://schemas.openxmlformats.org/drawingml/2006/main">
            <a:pPr>
              <a:defRPr sz="1500" b="0">
                <a:solidFill>
                  <a:srgbClr val="111111"/>
                </a:solidFill>
                <a:latin typeface="Arial"/>
                <a:ea typeface="Arial"/>
                <a:cs typeface="Arial"/>
              </a:defRPr>
            </a:pPr>
            <a:r>
              <a:rPr sz="1500" b="0">
                <a:solidFill>
                  <a:srgbClr val="111111"/>
                </a:solidFill>
                <a:latin typeface="Arial"/>
                <a:ea typeface="Arial"/>
                <a:cs typeface="Arial"/>
              </a:rPr>
              <a:t>search for empty location</a:t>
            </a:r>
          </a:p>
        </p:txBody>
      </p:sp>
      <p:sp>
        <p:nvSpPr>
          <p:cNvPr id="10" name="">
            <a:extLst xmlns:a="http://schemas.openxmlformats.org/drawingml/2006/main">
              <a:ext uri="{FF2B5EF4-FFF2-40B4-BE49-F238E27FC236}">
                <a16:creationId xmlns:a16="http://schemas.microsoft.com/office/drawing/2014/main" id="{2ED2C7E7-7E5D-429D-8A56-2DD179A998A0}"/>
              </a:ext>
            </a:extLst>
          </p:cNvPr>
          <p:cNvSpPr>
            <a:spLocks xmlns:a="http://schemas.openxmlformats.org/drawingml/2006/main" noGrp="1"/>
          </p:cNvSpPr>
          <p:nvPr/>
        </p:nvSpPr>
        <p:spPr>
          <a:xfrm xmlns:a="http://schemas.openxmlformats.org/drawingml/2006/main">
            <a:off x="5667375" y="1066800"/>
            <a:ext cx="3048000" cy="3190875"/>
          </a:xfrm>
          <a:prstGeom xmlns:a="http://schemas.openxmlformats.org/drawingml/2006/main" prst="rect">
            <a:avLst/>
          </a:prstGeom>
          <a:solidFill xmlns:a="http://schemas.openxmlformats.org/drawingml/2006/main">
            <a:srgbClr val="FFFFFF"/>
          </a:solidFill>
          <a:ln xmlns:a="http://schemas.openxmlformats.org/drawingml/2006/main" w="12383">
            <a:solidFill>
              <a:srgbClr val="21A899"/>
            </a:solidFill>
          </a:ln>
        </p:spPr>
        <p:txBody>
          <a:bodyPr xmlns:a="http://schemas.openxmlformats.org/drawingml/2006/main" lIns="76200" tIns="76200" rIns="76200" bIns="76200" anchor="ctr"/>
          <a:lstStyle xmlns:a="http://schemas.openxmlformats.org/drawingml/2006/main">
            <a:defPPr algn="ctr">
              <a:defRPr sz="1575">
                <a:solidFill>
                  <a:srgbClr val="111111"/>
                </a:solidFill>
                <a:latin typeface="Arial"/>
                <a:ea typeface="Arial"/>
                <a:cs typeface="Arial"/>
              </a:defRPr>
            </a:defPPr>
          </a:lstStyle>
          <a:p xmlns:a="http://schemas.openxmlformats.org/drawingml/2006/main">
            <a:r>
              <a:t/>
            </a:r>
          </a:p>
        </p:txBody>
      </p:sp>
      <p:sp>
        <p:nvSpPr>
          <p:cNvPr id="11" name="">
            <a:extLst xmlns:a="http://schemas.openxmlformats.org/drawingml/2006/main">
              <a:ext uri="{FF2B5EF4-FFF2-40B4-BE49-F238E27FC236}">
                <a16:creationId xmlns:a16="http://schemas.microsoft.com/office/drawing/2014/main" id="{A26EB81E-F913-4B96-84DA-3FE1D08CE459}"/>
              </a:ext>
            </a:extLst>
          </p:cNvPr>
          <p:cNvSpPr>
            <a:spLocks xmlns:a="http://schemas.openxmlformats.org/drawingml/2006/main" noGrp="1"/>
          </p:cNvSpPr>
          <p:nvPr/>
        </p:nvSpPr>
        <p:spPr>
          <a:xfrm xmlns:a="http://schemas.openxmlformats.org/drawingml/2006/main">
            <a:off x="5781675" y="1181100"/>
            <a:ext cx="281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11111"/>
                </a:solidFill>
                <a:latin typeface="Arial"/>
                <a:ea typeface="Arial"/>
                <a:cs typeface="Arial"/>
              </a:defRPr>
            </a:defPPr>
          </a:lstStyle>
          <a:p xmlns:a="http://schemas.openxmlformats.org/drawingml/2006/main">
            <a:pPr>
              <a:defRPr sz="1875" b="1">
                <a:solidFill>
                  <a:srgbClr val="111111"/>
                </a:solidFill>
                <a:latin typeface="Arial"/>
                <a:ea typeface="Arial"/>
                <a:cs typeface="Arial"/>
              </a:defRPr>
            </a:pPr>
            <a:r>
              <a:rPr sz="1875" b="1">
                <a:solidFill>
                  <a:srgbClr val="111111"/>
                </a:solidFill>
                <a:latin typeface="Arial"/>
                <a:ea typeface="Arial"/>
                <a:cs typeface="Arial"/>
              </a:rPr>
              <a:t>Residential location / A2</a:t>
            </a:r>
          </a:p>
        </p:txBody>
      </p:sp>
      <p:sp>
        <p:nvSpPr>
          <p:cNvPr id="12" name="">
            <a:extLst xmlns:a="http://schemas.openxmlformats.org/drawingml/2006/main">
              <a:ext uri="{FF2B5EF4-FFF2-40B4-BE49-F238E27FC236}">
                <a16:creationId xmlns:a16="http://schemas.microsoft.com/office/drawing/2014/main" id="{7025D7EC-DE09-408F-A65B-47C58827FE11}"/>
              </a:ext>
            </a:extLst>
          </p:cNvPr>
          <p:cNvSpPr>
            <a:spLocks xmlns:a="http://schemas.openxmlformats.org/drawingml/2006/main" noGrp="1"/>
          </p:cNvSpPr>
          <p:nvPr/>
        </p:nvSpPr>
        <p:spPr>
          <a:xfrm xmlns:a="http://schemas.openxmlformats.org/drawingml/2006/main">
            <a:off x="5781675" y="1638300"/>
            <a:ext cx="281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243AFF"/>
                </a:solidFill>
                <a:latin typeface="Arial"/>
                <a:ea typeface="Arial"/>
                <a:cs typeface="Arial"/>
              </a:defRPr>
            </a:defPPr>
          </a:lstStyle>
          <a:p xmlns:a="http://schemas.openxmlformats.org/drawingml/2006/main">
            <a:pPr>
              <a:defRPr sz="1200" b="1">
                <a:solidFill>
                  <a:srgbClr val="243AFF"/>
                </a:solidFill>
                <a:latin typeface="Arial"/>
                <a:ea typeface="Arial"/>
                <a:cs typeface="Arial"/>
              </a:defRPr>
            </a:pPr>
            <a:r>
              <a:rPr sz="1200" b="1">
                <a:solidFill>
                  <a:srgbClr val="243AFF"/>
                </a:solidFill>
                <a:latin typeface="Arial"/>
                <a:ea typeface="Arial"/>
                <a:cs typeface="Arial"/>
              </a:rPr>
              <a:t>STATES</a:t>
            </a:r>
          </a:p>
        </p:txBody>
      </p:sp>
      <p:sp>
        <p:nvSpPr>
          <p:cNvPr id="13" name="">
            <a:extLst xmlns:a="http://schemas.openxmlformats.org/drawingml/2006/main">
              <a:ext uri="{FF2B5EF4-FFF2-40B4-BE49-F238E27FC236}">
                <a16:creationId xmlns:a16="http://schemas.microsoft.com/office/drawing/2014/main" id="{72F5E14E-A509-43B2-B89C-C124F281CD30}"/>
              </a:ext>
            </a:extLst>
          </p:cNvPr>
          <p:cNvSpPr>
            <a:spLocks xmlns:a="http://schemas.openxmlformats.org/drawingml/2006/main" noGrp="1"/>
          </p:cNvSpPr>
          <p:nvPr/>
        </p:nvSpPr>
        <p:spPr>
          <a:xfrm xmlns:a="http://schemas.openxmlformats.org/drawingml/2006/main">
            <a:off x="5781675" y="1943100"/>
            <a:ext cx="2819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111111"/>
                </a:solidFill>
                <a:latin typeface="Arial"/>
                <a:ea typeface="Arial"/>
                <a:cs typeface="Arial"/>
              </a:defRPr>
            </a:defPPr>
          </a:lstStyle>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empty / occupied</a:t>
            </a:r>
          </a:p>
          <a:p xmlns:a="http://schemas.openxmlformats.org/drawingml/2006/main">
            <a:pPr>
              <a:defRPr sz="1575" b="0">
                <a:solidFill>
                  <a:srgbClr val="111111"/>
                </a:solidFill>
                <a:latin typeface="Arial"/>
                <a:ea typeface="Arial"/>
                <a:cs typeface="Arial"/>
              </a:defRPr>
            </a:pPr>
            <a:r>
              <a:rPr sz="1575" b="0">
                <a:solidFill>
                  <a:srgbClr val="111111"/>
                </a:solidFill>
                <a:latin typeface="Arial"/>
                <a:ea typeface="Arial"/>
                <a:cs typeface="Arial"/>
              </a:rPr>
              <a:t>(derived state)</a:t>
            </a:r>
          </a:p>
        </p:txBody>
      </p:sp>
      <p:sp>
        <p:nvSpPr>
          <p:cNvPr id="14" name="">
            <a:extLst xmlns:a="http://schemas.openxmlformats.org/drawingml/2006/main">
              <a:ext uri="{FF2B5EF4-FFF2-40B4-BE49-F238E27FC236}">
                <a16:creationId xmlns:a16="http://schemas.microsoft.com/office/drawing/2014/main" id="{B9E809FF-3982-4630-B288-0213D55BF708}"/>
              </a:ext>
            </a:extLst>
          </p:cNvPr>
          <p:cNvSpPr>
            <a:spLocks xmlns:a="http://schemas.openxmlformats.org/drawingml/2006/main" noGrp="1"/>
          </p:cNvSpPr>
          <p:nvPr/>
        </p:nvSpPr>
        <p:spPr>
          <a:xfrm xmlns:a="http://schemas.openxmlformats.org/drawingml/2006/main">
            <a:off x="5781675" y="3019425"/>
            <a:ext cx="281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243AFF"/>
                </a:solidFill>
                <a:latin typeface="Arial"/>
                <a:ea typeface="Arial"/>
                <a:cs typeface="Arial"/>
              </a:defRPr>
            </a:defPPr>
          </a:lstStyle>
          <a:p xmlns:a="http://schemas.openxmlformats.org/drawingml/2006/main">
            <a:pPr>
              <a:defRPr sz="1200" b="1">
                <a:solidFill>
                  <a:srgbClr val="243AFF"/>
                </a:solidFill>
                <a:latin typeface="Arial"/>
                <a:ea typeface="Arial"/>
                <a:cs typeface="Arial"/>
              </a:defRPr>
            </a:pPr>
            <a:r>
              <a:rPr sz="1200" b="1">
                <a:solidFill>
                  <a:srgbClr val="243AFF"/>
                </a:solidFill>
                <a:latin typeface="Arial"/>
                <a:ea typeface="Arial"/>
                <a:cs typeface="Arial"/>
              </a:rPr>
              <a:t>CAPABILITIES</a:t>
            </a:r>
          </a:p>
        </p:txBody>
      </p:sp>
      <p:sp>
        <p:nvSpPr>
          <p:cNvPr id="15" name="">
            <a:extLst xmlns:a="http://schemas.openxmlformats.org/drawingml/2006/main">
              <a:ext uri="{FF2B5EF4-FFF2-40B4-BE49-F238E27FC236}">
                <a16:creationId xmlns:a16="http://schemas.microsoft.com/office/drawing/2014/main" id="{4BEAD075-9F00-43D8-B520-50E737C0B0A5}"/>
              </a:ext>
            </a:extLst>
          </p:cNvPr>
          <p:cNvSpPr>
            <a:spLocks xmlns:a="http://schemas.openxmlformats.org/drawingml/2006/main" noGrp="1"/>
          </p:cNvSpPr>
          <p:nvPr/>
        </p:nvSpPr>
        <p:spPr>
          <a:xfrm xmlns:a="http://schemas.openxmlformats.org/drawingml/2006/main">
            <a:off x="5781675" y="3333750"/>
            <a:ext cx="2819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111111"/>
                </a:solidFill>
                <a:latin typeface="Arial"/>
                <a:ea typeface="Arial"/>
                <a:cs typeface="Arial"/>
              </a:defRPr>
            </a:defPPr>
          </a:lstStyle>
          <a:p xmlns:a="http://schemas.openxmlformats.org/drawingml/2006/main">
            <a:pPr>
              <a:defRPr sz="1500" b="0">
                <a:solidFill>
                  <a:srgbClr val="111111"/>
                </a:solidFill>
                <a:latin typeface="Arial"/>
                <a:ea typeface="Arial"/>
                <a:cs typeface="Arial"/>
              </a:defRPr>
            </a:pPr>
            <a:r>
              <a:rPr sz="1500" b="0">
                <a:solidFill>
                  <a:srgbClr val="111111"/>
                </a:solidFill>
                <a:latin typeface="Arial"/>
                <a:ea typeface="Arial"/>
                <a:cs typeface="Arial"/>
              </a:rPr>
              <a:t>support occupancy</a:t>
            </a:r>
          </a:p>
          <a:p xmlns:a="http://schemas.openxmlformats.org/drawingml/2006/main">
            <a:pPr>
              <a:defRPr sz="1500" b="0">
                <a:solidFill>
                  <a:srgbClr val="111111"/>
                </a:solidFill>
                <a:latin typeface="Arial"/>
                <a:ea typeface="Arial"/>
                <a:cs typeface="Arial"/>
              </a:defRPr>
            </a:pPr>
            <a:r>
              <a:rPr sz="1500" b="0">
                <a:solidFill>
                  <a:srgbClr val="111111"/>
                </a:solidFill>
                <a:latin typeface="Arial"/>
                <a:ea typeface="Arial"/>
                <a:cs typeface="Arial"/>
              </a:rPr>
              <a:t>and adjacency</a:t>
            </a:r>
          </a:p>
        </p:txBody>
      </p:sp>
      <p:sp>
        <p:nvSpPr>
          <p:cNvPr id="17" name="">
            <a:extLst xmlns:a="http://schemas.openxmlformats.org/drawingml/2006/main">
              <a:ext uri="{FF2B5EF4-FFF2-40B4-BE49-F238E27FC236}">
                <a16:creationId xmlns:a16="http://schemas.microsoft.com/office/drawing/2014/main" id="{27C27012-0393-48D9-B707-6AAE10F809F5}"/>
              </a:ext>
            </a:extLst>
          </p:cNvPr>
          <p:cNvSpPr>
            <a:spLocks xmlns:a="http://schemas.openxmlformats.org/drawingml/2006/main" noGrp="1"/>
          </p:cNvSpPr>
          <p:nvPr/>
        </p:nvSpPr>
        <p:spPr>
          <a:xfrm xmlns:a="http://schemas.openxmlformats.org/drawingml/2006/main">
            <a:off x="3857625" y="2124075"/>
            <a:ext cx="1476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1">
                <a:solidFill>
                  <a:srgbClr val="21A899"/>
                </a:solidFill>
                <a:latin typeface="Arial"/>
                <a:ea typeface="Arial"/>
                <a:cs typeface="Arial"/>
              </a:defRPr>
            </a:defPPr>
          </a:lstStyle>
          <a:p xmlns:a="http://schemas.openxmlformats.org/drawingml/2006/main">
            <a:pPr>
              <a:defRPr sz="1575" b="1">
                <a:solidFill>
                  <a:srgbClr val="21A899"/>
                </a:solidFill>
                <a:latin typeface="Arial"/>
                <a:ea typeface="Arial"/>
                <a:cs typeface="Arial"/>
              </a:defRPr>
            </a:pPr>
            <a:r>
              <a:rPr sz="1575" b="1">
                <a:solidFill>
                  <a:srgbClr val="21A899"/>
                </a:solidFill>
                <a:latin typeface="Arial"/>
                <a:ea typeface="Arial"/>
                <a:cs typeface="Arial"/>
              </a:rPr>
              <a:t>occupies</a:t>
            </a:r>
          </a:p>
        </p:txBody>
      </p:sp>
      <p:sp>
        <p:nvSpPr>
          <p:cNvPr id="18" name="">
            <a:extLst xmlns:a="http://schemas.openxmlformats.org/drawingml/2006/main">
              <a:ext uri="{FF2B5EF4-FFF2-40B4-BE49-F238E27FC236}">
                <a16:creationId xmlns:a16="http://schemas.microsoft.com/office/drawing/2014/main" id="{C54D7972-6AAA-4C1B-8766-85DF1C51B9C8}"/>
              </a:ext>
            </a:extLst>
          </p:cNvPr>
          <p:cNvSpPr>
            <a:spLocks xmlns:a="http://schemas.openxmlformats.org/drawingml/2006/main" noGrp="1"/>
          </p:cNvSpPr>
          <p:nvPr/>
        </p:nvSpPr>
        <p:spPr>
          <a:xfrm xmlns:a="http://schemas.openxmlformats.org/drawingml/2006/main">
            <a:off x="3810000" y="2886075"/>
            <a:ext cx="171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111111"/>
                </a:solidFill>
                <a:latin typeface="Arial"/>
                <a:ea typeface="Arial"/>
                <a:cs typeface="Arial"/>
              </a:defRPr>
            </a:defPPr>
          </a:lstStyle>
          <a:p xmlns:a="http://schemas.openxmlformats.org/drawingml/2006/main">
            <a:pPr>
              <a:defRPr sz="1500" b="0">
                <a:solidFill>
                  <a:srgbClr val="111111"/>
                </a:solidFill>
                <a:latin typeface="Arial"/>
                <a:ea typeface="Arial"/>
                <a:cs typeface="Arial"/>
              </a:defRPr>
            </a:pPr>
            <a:r>
              <a:rPr sz="1500" b="0">
                <a:solidFill>
                  <a:srgbClr val="111111"/>
                </a:solidFill>
                <a:latin typeface="Arial"/>
                <a:ea typeface="Arial"/>
                <a:cs typeface="Arial"/>
              </a:rPr>
              <a:t>Neighbour relations</a:t>
            </a:r>
          </a:p>
          <a:p xmlns:a="http://schemas.openxmlformats.org/drawingml/2006/main">
            <a:pPr>
              <a:defRPr sz="1500" b="0">
                <a:solidFill>
                  <a:srgbClr val="111111"/>
                </a:solidFill>
                <a:latin typeface="Arial"/>
                <a:ea typeface="Arial"/>
                <a:cs typeface="Arial"/>
              </a:defRPr>
            </a:pPr>
            <a:r>
              <a:rPr sz="1500" b="0">
                <a:solidFill>
                  <a:srgbClr val="111111"/>
                </a:solidFill>
                <a:latin typeface="Arial"/>
                <a:ea typeface="Arial"/>
                <a:cs typeface="Arial"/>
              </a:rPr>
              <a:t>connect individuals</a:t>
            </a:r>
          </a:p>
          <a:p xmlns:a="http://schemas.openxmlformats.org/drawingml/2006/main">
            <a:pPr>
              <a:defRPr sz="1500" b="0">
                <a:solidFill>
                  <a:srgbClr val="111111"/>
                </a:solidFill>
                <a:latin typeface="Arial"/>
                <a:ea typeface="Arial"/>
                <a:cs typeface="Arial"/>
              </a:defRPr>
            </a:pPr>
            <a:r>
              <a:rPr sz="1500" b="0">
                <a:solidFill>
                  <a:srgbClr val="111111"/>
                </a:solidFill>
                <a:latin typeface="Arial"/>
                <a:ea typeface="Arial"/>
                <a:cs typeface="Arial"/>
              </a:rPr>
              <a:t>on adjacent patches.</a:t>
            </a:r>
          </a:p>
        </p:txBody>
      </p:sp>
      <p:sp>
        <p:nvSpPr>
          <p:cNvPr id="19" name="">
            <a:extLst xmlns:a="http://schemas.openxmlformats.org/drawingml/2006/main">
              <a:ext uri="{FF2B5EF4-FFF2-40B4-BE49-F238E27FC236}">
                <a16:creationId xmlns:a16="http://schemas.microsoft.com/office/drawing/2014/main" id="{6C23F062-F72C-421A-AEBC-EE1AF73FB7DF}"/>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Sequence and CLOCK belong in the flowchart.</a:t>
            </a:r>
          </a:p>
        </p:txBody>
      </p:sp>
    </p:spTree>
    <p:extLst>
      <p:ext uri="{BB962C8B-B14F-4D97-AF65-F5344CB8AC3E}">
        <p14:creationId xmlns:p14="http://schemas.microsoft.com/office/powerpoint/2010/main" val="264753391"/>
      </p:ext>
    </p:extLst>
  </p:cSld>
</p:sld>
</file>

<file path=ppt/slides/slide25.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D8FFE7-31E8-4F20-8604-3273E9BE478C}"/>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BehaviorSpace: a policy question</a:t>
            </a:r>
          </a:p>
        </p:txBody>
      </p:sp>
      <p:sp>
        <p:nvSpPr>
          <p:cNvPr id="2" name="">
            <a:extLst xmlns:a="http://schemas.openxmlformats.org/drawingml/2006/main">
              <a:ext uri="{FF2B5EF4-FFF2-40B4-BE49-F238E27FC236}">
                <a16:creationId xmlns:a16="http://schemas.microsoft.com/office/drawing/2014/main" id="{05953046-1E0D-469A-ADF2-691E42E2502F}"/>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Teaching experiment proposal</a:t>
            </a:r>
          </a:p>
        </p:txBody>
      </p:sp>
      <p:sp>
        <p:nvSpPr>
          <p:cNvPr id="3" name="">
            <a:extLst xmlns:a="http://schemas.openxmlformats.org/drawingml/2006/main">
              <a:ext uri="{FF2B5EF4-FFF2-40B4-BE49-F238E27FC236}">
                <a16:creationId xmlns:a16="http://schemas.microsoft.com/office/drawing/2014/main" id="{7A139357-7555-47BC-A078-4D5499FA5EEB}"/>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25</a:t>
            </a:r>
          </a:p>
        </p:txBody>
      </p:sp>
      <p:sp>
        <p:nvSpPr>
          <p:cNvPr id="4" name="">
            <a:extLst xmlns:a="http://schemas.openxmlformats.org/drawingml/2006/main">
              <a:ext uri="{FF2B5EF4-FFF2-40B4-BE49-F238E27FC236}">
                <a16:creationId xmlns:a16="http://schemas.microsoft.com/office/drawing/2014/main" id="{CE6751B4-4FB1-4B7D-8FCA-8061E17856CB}"/>
              </a:ext>
            </a:extLst>
          </p:cNvPr>
          <p:cNvSpPr>
            <a:spLocks xmlns:a="http://schemas.openxmlformats.org/drawingml/2006/main" noGrp="1"/>
          </p:cNvSpPr>
          <p:nvPr/>
        </p:nvSpPr>
        <p:spPr>
          <a:xfrm xmlns:a="http://schemas.openxmlformats.org/drawingml/2006/main">
            <a:off x="381000" y="1171575"/>
            <a:ext cx="8286750" cy="2828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11111"/>
                </a:solidFill>
                <a:latin typeface="Arial"/>
                <a:ea typeface="Arial"/>
                <a:cs typeface="Arial"/>
              </a:defRPr>
            </a:defPPr>
          </a:lstStyle>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Would greater acceptance of mixed neighbourhoods</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be sufficient to reduce segregation?</a:t>
            </a:r>
          </a:p>
          <a:p xmlns:a="http://schemas.openxmlformats.org/drawingml/2006/main">
            <a:r>
              <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Represent greater acceptance with a lower</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%-similar-wanted threshold.</a:t>
            </a:r>
          </a:p>
          <a:p xmlns:a="http://schemas.openxmlformats.org/drawingml/2006/main">
            <a:r>
              <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Compare final similarity and individual satisfaction</a:t>
            </a:r>
          </a:p>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across repeated runs.</a:t>
            </a:r>
          </a:p>
        </p:txBody>
      </p:sp>
      <p:sp>
        <p:nvSpPr>
          <p:cNvPr id="5" name="">
            <a:extLst xmlns:a="http://schemas.openxmlformats.org/drawingml/2006/main">
              <a:ext uri="{FF2B5EF4-FFF2-40B4-BE49-F238E27FC236}">
                <a16:creationId xmlns:a16="http://schemas.microsoft.com/office/drawing/2014/main" id="{FEFBBE8D-AC09-4344-8D09-AAEA190FDC4D}"/>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A threshold change is a hypothesis about preferences, not a policy program.</a:t>
            </a:r>
          </a:p>
        </p:txBody>
      </p:sp>
    </p:spTree>
    <p:extLst>
      <p:ext uri="{BB962C8B-B14F-4D97-AF65-F5344CB8AC3E}">
        <p14:creationId xmlns:p14="http://schemas.microsoft.com/office/powerpoint/2010/main" val="2138408220"/>
      </p:ext>
    </p:extLst>
  </p:cSld>
</p:sld>
</file>

<file path=ppt/slides/slide26.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477B2C-29CB-42C3-9047-9383744C22FA}"/>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BehaviorSpace: proposed settings</a:t>
            </a:r>
          </a:p>
        </p:txBody>
      </p:sp>
      <p:sp>
        <p:nvSpPr>
          <p:cNvPr id="2" name="">
            <a:extLst xmlns:a="http://schemas.openxmlformats.org/drawingml/2006/main">
              <a:ext uri="{FF2B5EF4-FFF2-40B4-BE49-F238E27FC236}">
                <a16:creationId xmlns:a16="http://schemas.microsoft.com/office/drawing/2014/main" id="{0DD271CA-C4F9-4C45-B944-490FCFFFBB0C}"/>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Teaching experiment proposal</a:t>
            </a:r>
          </a:p>
        </p:txBody>
      </p:sp>
      <p:sp>
        <p:nvSpPr>
          <p:cNvPr id="3" name="">
            <a:extLst xmlns:a="http://schemas.openxmlformats.org/drawingml/2006/main">
              <a:ext uri="{FF2B5EF4-FFF2-40B4-BE49-F238E27FC236}">
                <a16:creationId xmlns:a16="http://schemas.microsoft.com/office/drawing/2014/main" id="{B66CEB13-4742-47CD-8B97-97F9AA7DF296}"/>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26</a:t>
            </a:r>
          </a:p>
        </p:txBody>
      </p:sp>
      <p:sp>
        <p:nvSpPr>
          <p:cNvPr id="4" name="">
            <a:extLst xmlns:a="http://schemas.openxmlformats.org/drawingml/2006/main">
              <a:ext uri="{FF2B5EF4-FFF2-40B4-BE49-F238E27FC236}">
                <a16:creationId xmlns:a16="http://schemas.microsoft.com/office/drawing/2014/main" id="{BAC8BA98-5D51-4096-9DF3-F117B47F27F0}"/>
              </a:ext>
            </a:extLst>
          </p:cNvPr>
          <p:cNvSpPr>
            <a:spLocks xmlns:a="http://schemas.openxmlformats.org/drawingml/2006/main" noGrp="1"/>
          </p:cNvSpPr>
          <p:nvPr/>
        </p:nvSpPr>
        <p:spPr>
          <a:xfrm xmlns:a="http://schemas.openxmlformats.org/drawingml/2006/main">
            <a:off x="381000" y="114300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075A50"/>
                </a:solidFill>
                <a:latin typeface="Courier New"/>
                <a:ea typeface="Courier New"/>
                <a:cs typeface="Courier New"/>
              </a:defRPr>
            </a:defPPr>
          </a:lstStyle>
          <a:p xmlns:a="http://schemas.openxmlformats.org/drawingml/2006/main">
            <a:pPr>
              <a:defRPr sz="1875" b="0">
                <a:solidFill>
                  <a:srgbClr val="075A50"/>
                </a:solidFill>
                <a:latin typeface="Courier New"/>
                <a:ea typeface="Courier New"/>
                <a:cs typeface="Courier New"/>
              </a:defRPr>
            </a:pPr>
            <a:r>
              <a:rPr sz="1875" b="0">
                <a:solidFill>
                  <a:srgbClr val="075A50"/>
                </a:solidFill>
                <a:latin typeface="Courier New"/>
                <a:ea typeface="Courier New"/>
                <a:cs typeface="Courier New"/>
              </a:rPr>
              <a:t>["density" 70 85 95]</a:t>
            </a:r>
          </a:p>
          <a:p xmlns:a="http://schemas.openxmlformats.org/drawingml/2006/main">
            <a:pPr>
              <a:defRPr sz="1875" b="0">
                <a:solidFill>
                  <a:srgbClr val="075A50"/>
                </a:solidFill>
                <a:latin typeface="Courier New"/>
                <a:ea typeface="Courier New"/>
                <a:cs typeface="Courier New"/>
              </a:defRPr>
            </a:pPr>
            <a:r>
              <a:rPr sz="1875" b="0">
                <a:solidFill>
                  <a:srgbClr val="075A50"/>
                </a:solidFill>
                <a:latin typeface="Courier New"/>
                <a:ea typeface="Courier New"/>
                <a:cs typeface="Courier New"/>
              </a:rPr>
              <a:t>["%-similar-wanted" 10 30 50 70]</a:t>
            </a:r>
          </a:p>
        </p:txBody>
      </p:sp>
      <p:sp>
        <p:nvSpPr>
          <p:cNvPr id="5" name="">
            <a:extLst xmlns:a="http://schemas.openxmlformats.org/drawingml/2006/main">
              <a:ext uri="{FF2B5EF4-FFF2-40B4-BE49-F238E27FC236}">
                <a16:creationId xmlns:a16="http://schemas.microsoft.com/office/drawing/2014/main" id="{D4DE522F-E3F3-44CA-9DEC-D25AD0437B25}"/>
              </a:ext>
            </a:extLst>
          </p:cNvPr>
          <p:cNvSpPr>
            <a:spLocks xmlns:a="http://schemas.openxmlformats.org/drawingml/2006/main" noGrp="1"/>
          </p:cNvSpPr>
          <p:nvPr/>
        </p:nvSpPr>
        <p:spPr>
          <a:xfrm xmlns:a="http://schemas.openxmlformats.org/drawingml/2006/main">
            <a:off x="381000" y="2333625"/>
            <a:ext cx="3952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11111"/>
                </a:solidFill>
                <a:latin typeface="Arial"/>
                <a:ea typeface="Arial"/>
                <a:cs typeface="Arial"/>
              </a:defRPr>
            </a:defPPr>
          </a:lstStyle>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Setup commands: setup</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Go commands: go</a:t>
            </a:r>
          </a:p>
          <a:p xmlns:a="http://schemas.openxmlformats.org/drawingml/2006/main">
            <a:r>
              <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20 repetitions per combination</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Time limit: 1,000 steps</a:t>
            </a:r>
          </a:p>
          <a:p xmlns:a="http://schemas.openxmlformats.org/drawingml/2006/main">
            <a:r>
              <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Keep visualization fixed.</a:t>
            </a:r>
          </a:p>
        </p:txBody>
      </p:sp>
      <p:sp>
        <p:nvSpPr>
          <p:cNvPr id="6" name="">
            <a:extLst xmlns:a="http://schemas.openxmlformats.org/drawingml/2006/main">
              <a:ext uri="{FF2B5EF4-FFF2-40B4-BE49-F238E27FC236}">
                <a16:creationId xmlns:a16="http://schemas.microsoft.com/office/drawing/2014/main" id="{8428AFD0-C040-4EF2-905B-6ABFA1B720C1}"/>
              </a:ext>
            </a:extLst>
          </p:cNvPr>
          <p:cNvSpPr>
            <a:spLocks xmlns:a="http://schemas.openxmlformats.org/drawingml/2006/main" noGrp="1"/>
          </p:cNvSpPr>
          <p:nvPr/>
        </p:nvSpPr>
        <p:spPr>
          <a:xfrm xmlns:a="http://schemas.openxmlformats.org/drawingml/2006/main">
            <a:off x="4857750" y="2333625"/>
            <a:ext cx="39052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11111"/>
                </a:solidFill>
                <a:latin typeface="Arial"/>
                <a:ea typeface="Arial"/>
                <a:cs typeface="Arial"/>
              </a:defRPr>
            </a:defPPr>
          </a:lstStyle>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240 runs</a:t>
            </a:r>
          </a:p>
          <a:p xmlns:a="http://schemas.openxmlformats.org/drawingml/2006/main">
            <a:r>
              <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Use the existing all-happy</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stop condition in go.</a:t>
            </a:r>
          </a:p>
          <a:p xmlns:a="http://schemas.openxmlformats.org/drawingml/2006/main">
            <a:r>
              <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Uncheck “Run metrics every step”</a:t>
            </a:r>
          </a:p>
          <a:p xmlns:a="http://schemas.openxmlformats.org/drawingml/2006/main">
            <a:pPr>
              <a:defRPr sz="1725" b="0">
                <a:solidFill>
                  <a:srgbClr val="111111"/>
                </a:solidFill>
                <a:latin typeface="Arial"/>
                <a:ea typeface="Arial"/>
                <a:cs typeface="Arial"/>
              </a:defRPr>
            </a:pPr>
            <a:r>
              <a:rPr sz="1725" b="0">
                <a:solidFill>
                  <a:srgbClr val="111111"/>
                </a:solidFill>
                <a:latin typeface="Arial"/>
                <a:ea typeface="Arial"/>
                <a:cs typeface="Arial"/>
              </a:rPr>
              <a:t>to record final measures.</a:t>
            </a:r>
          </a:p>
        </p:txBody>
      </p:sp>
    </p:spTree>
    <p:extLst>
      <p:ext uri="{BB962C8B-B14F-4D97-AF65-F5344CB8AC3E}">
        <p14:creationId xmlns:p14="http://schemas.microsoft.com/office/powerpoint/2010/main" val="787936700"/>
      </p:ext>
    </p:extLst>
  </p:cSld>
</p:sld>
</file>

<file path=ppt/slides/slide27.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F45CD5-08EA-4FD4-A54B-114D6D4FE5A7}"/>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BehaviorSpace: measures and interpretation</a:t>
            </a:r>
          </a:p>
        </p:txBody>
      </p:sp>
      <p:sp>
        <p:nvSpPr>
          <p:cNvPr id="2" name="">
            <a:extLst xmlns:a="http://schemas.openxmlformats.org/drawingml/2006/main">
              <a:ext uri="{FF2B5EF4-FFF2-40B4-BE49-F238E27FC236}">
                <a16:creationId xmlns:a16="http://schemas.microsoft.com/office/drawing/2014/main" id="{6283FB35-416E-4F85-978A-4B438E89B388}"/>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Teaching experiment proposal</a:t>
            </a:r>
          </a:p>
        </p:txBody>
      </p:sp>
      <p:sp>
        <p:nvSpPr>
          <p:cNvPr id="3" name="">
            <a:extLst xmlns:a="http://schemas.openxmlformats.org/drawingml/2006/main">
              <a:ext uri="{FF2B5EF4-FFF2-40B4-BE49-F238E27FC236}">
                <a16:creationId xmlns:a16="http://schemas.microsoft.com/office/drawing/2014/main" id="{8191C033-6E13-434D-BFDE-8D3C188AAE8A}"/>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27</a:t>
            </a:r>
          </a:p>
        </p:txBody>
      </p:sp>
      <p:sp>
        <p:nvSpPr>
          <p:cNvPr id="4" name="">
            <a:extLst xmlns:a="http://schemas.openxmlformats.org/drawingml/2006/main">
              <a:ext uri="{FF2B5EF4-FFF2-40B4-BE49-F238E27FC236}">
                <a16:creationId xmlns:a16="http://schemas.microsoft.com/office/drawing/2014/main" id="{843C5722-72D1-40DC-BEA9-D90B2E79CA3F}"/>
              </a:ext>
            </a:extLst>
          </p:cNvPr>
          <p:cNvSpPr>
            <a:spLocks xmlns:a="http://schemas.openxmlformats.org/drawingml/2006/main" noGrp="1"/>
          </p:cNvSpPr>
          <p:nvPr/>
        </p:nvSpPr>
        <p:spPr>
          <a:xfrm xmlns:a="http://schemas.openxmlformats.org/drawingml/2006/main">
            <a:off x="381000" y="1171575"/>
            <a:ext cx="4286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75A50"/>
                </a:solidFill>
                <a:latin typeface="Courier New"/>
                <a:ea typeface="Courier New"/>
                <a:cs typeface="Courier New"/>
              </a:defRPr>
            </a:defPPr>
          </a:lstStyle>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percent-similar</a:t>
            </a:r>
          </a:p>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percent-unhappy</a:t>
            </a:r>
          </a:p>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ticks</a:t>
            </a:r>
          </a:p>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count turtles</a:t>
            </a:r>
          </a:p>
          <a:p xmlns:a="http://schemas.openxmlformats.org/drawingml/2006/main">
            <a:pPr>
              <a:defRPr sz="1950" b="0">
                <a:solidFill>
                  <a:srgbClr val="075A50"/>
                </a:solidFill>
                <a:latin typeface="Courier New"/>
                <a:ea typeface="Courier New"/>
                <a:cs typeface="Courier New"/>
              </a:defRPr>
            </a:pPr>
            <a:r>
              <a:rPr sz="1950" b="0">
                <a:solidFill>
                  <a:srgbClr val="075A50"/>
                </a:solidFill>
                <a:latin typeface="Courier New"/>
                <a:ea typeface="Courier New"/>
                <a:cs typeface="Courier New"/>
              </a:rPr>
              <a:t>all? turtles [ happy? ]</a:t>
            </a:r>
          </a:p>
        </p:txBody>
      </p:sp>
      <p:sp>
        <p:nvSpPr>
          <p:cNvPr id="5" name="">
            <a:extLst xmlns:a="http://schemas.openxmlformats.org/drawingml/2006/main">
              <a:ext uri="{FF2B5EF4-FFF2-40B4-BE49-F238E27FC236}">
                <a16:creationId xmlns:a16="http://schemas.microsoft.com/office/drawing/2014/main" id="{4C7E7223-B31F-4629-AF85-01C1501274AC}"/>
              </a:ext>
            </a:extLst>
          </p:cNvPr>
          <p:cNvSpPr>
            <a:spLocks xmlns:a="http://schemas.openxmlformats.org/drawingml/2006/main" noGrp="1"/>
          </p:cNvSpPr>
          <p:nvPr/>
        </p:nvSpPr>
        <p:spPr>
          <a:xfrm xmlns:a="http://schemas.openxmlformats.org/drawingml/2006/main">
            <a:off x="4953000" y="1171575"/>
            <a:ext cx="37623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11111"/>
                </a:solidFill>
                <a:latin typeface="Arial"/>
                <a:ea typeface="Arial"/>
                <a:cs typeface="Arial"/>
              </a:defRPr>
            </a:defPPr>
          </a:lstStyle>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Similarity: local separation</a:t>
            </a:r>
          </a:p>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Unhappiness: dissatisfaction</a:t>
            </a:r>
          </a:p>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Ticks: adjustment duration</a:t>
            </a:r>
          </a:p>
          <a:p xmlns:a="http://schemas.openxmlformats.org/drawingml/2006/main">
            <a:r>
              <a:t/>
            </a:r>
          </a:p>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Identify all-happy endings</a:t>
            </a:r>
          </a:p>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and runs reaching the cap.</a:t>
            </a:r>
          </a:p>
          <a:p xmlns:a="http://schemas.openxmlformats.org/drawingml/2006/main">
            <a:r>
              <a:t/>
            </a:r>
          </a:p>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A capped run is not an equilibrium.</a:t>
            </a:r>
          </a:p>
        </p:txBody>
      </p:sp>
      <p:sp>
        <p:nvSpPr>
          <p:cNvPr id="6" name="">
            <a:extLst xmlns:a="http://schemas.openxmlformats.org/drawingml/2006/main">
              <a:ext uri="{FF2B5EF4-FFF2-40B4-BE49-F238E27FC236}">
                <a16:creationId xmlns:a16="http://schemas.microsoft.com/office/drawing/2014/main" id="{D40C77F9-C0CA-443F-A2CE-2D86A0749593}"/>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Satisfied individuals can coexist with high aggregate similarity.</a:t>
            </a:r>
          </a:p>
        </p:txBody>
      </p:sp>
    </p:spTree>
    <p:extLst>
      <p:ext uri="{BB962C8B-B14F-4D97-AF65-F5344CB8AC3E}">
        <p14:creationId xmlns:p14="http://schemas.microsoft.com/office/powerpoint/2010/main" val="797734907"/>
      </p:ext>
    </p:extLst>
  </p:cSld>
</p:sld>
</file>

<file path=ppt/slides/slide28.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F31C14-7284-4452-9F28-696AD741215D}"/>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Analysis outside NetLogo</a:t>
            </a:r>
          </a:p>
        </p:txBody>
      </p:sp>
      <p:sp>
        <p:nvSpPr>
          <p:cNvPr id="2" name="">
            <a:extLst xmlns:a="http://schemas.openxmlformats.org/drawingml/2006/main">
              <a:ext uri="{FF2B5EF4-FFF2-40B4-BE49-F238E27FC236}">
                <a16:creationId xmlns:a16="http://schemas.microsoft.com/office/drawing/2014/main" id="{56E3D6AE-BE3A-441B-838E-9994CFBE2DCD}"/>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Teaching analysis proposal</a:t>
            </a:r>
          </a:p>
        </p:txBody>
      </p:sp>
      <p:sp>
        <p:nvSpPr>
          <p:cNvPr id="3" name="">
            <a:extLst xmlns:a="http://schemas.openxmlformats.org/drawingml/2006/main">
              <a:ext uri="{FF2B5EF4-FFF2-40B4-BE49-F238E27FC236}">
                <a16:creationId xmlns:a16="http://schemas.microsoft.com/office/drawing/2014/main" id="{6C55156C-C29A-4A65-99E7-3E94D6476DDF}"/>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28</a:t>
            </a:r>
          </a:p>
        </p:txBody>
      </p:sp>
      <p:sp>
        <p:nvSpPr>
          <p:cNvPr id="4" name="">
            <a:extLst xmlns:a="http://schemas.openxmlformats.org/drawingml/2006/main">
              <a:ext uri="{FF2B5EF4-FFF2-40B4-BE49-F238E27FC236}">
                <a16:creationId xmlns:a16="http://schemas.microsoft.com/office/drawing/2014/main" id="{428CBEDA-00E4-41AC-B7CF-8CDB49FD0E03}"/>
              </a:ext>
            </a:extLst>
          </p:cNvPr>
          <p:cNvSpPr>
            <a:spLocks xmlns:a="http://schemas.openxmlformats.org/drawingml/2006/main" noGrp="1"/>
          </p:cNvSpPr>
          <p:nvPr/>
        </p:nvSpPr>
        <p:spPr>
          <a:xfrm xmlns:a="http://schemas.openxmlformats.org/drawingml/2006/main">
            <a:off x="381000" y="1123950"/>
            <a:ext cx="82867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Export the BehaviorSpace table.</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Keep parameters and run identifiers with the results.</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Plot final % similar against the threshold, by density.</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Show variation across repetitions.</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Report the share of runs ending all-happy.</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Compare duration for completed and capped runs separately.</a:t>
            </a:r>
          </a:p>
        </p:txBody>
      </p:sp>
      <p:sp>
        <p:nvSpPr>
          <p:cNvPr id="5" name="">
            <a:extLst xmlns:a="http://schemas.openxmlformats.org/drawingml/2006/main">
              <a:ext uri="{FF2B5EF4-FFF2-40B4-BE49-F238E27FC236}">
                <a16:creationId xmlns:a16="http://schemas.microsoft.com/office/drawing/2014/main" id="{8F73E4BF-A6F5-4110-AC77-EA5AF58AD609}"/>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Does the evidence support “greater acceptance is sufficient” in this model?</a:t>
            </a:r>
          </a:p>
        </p:txBody>
      </p:sp>
    </p:spTree>
    <p:extLst>
      <p:ext uri="{BB962C8B-B14F-4D97-AF65-F5344CB8AC3E}">
        <p14:creationId xmlns:p14="http://schemas.microsoft.com/office/powerpoint/2010/main" val="213198363"/>
      </p:ext>
    </p:extLst>
  </p:cSld>
</p:sld>
</file>

<file path=ppt/slides/slide29.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EA803C-BDE8-4F30-B12E-C229E0DAE48F}"/>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Reconfiguration resumes</a:t>
            </a:r>
          </a:p>
        </p:txBody>
      </p:sp>
      <p:sp>
        <p:nvSpPr>
          <p:cNvPr id="2" name="">
            <a:extLst xmlns:a="http://schemas.openxmlformats.org/drawingml/2006/main">
              <a:ext uri="{FF2B5EF4-FFF2-40B4-BE49-F238E27FC236}">
                <a16:creationId xmlns:a16="http://schemas.microsoft.com/office/drawing/2014/main" id="{497117DE-863A-4842-BD07-31C966C0166E}"/>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Teaching discussion</a:t>
            </a:r>
          </a:p>
        </p:txBody>
      </p:sp>
      <p:sp>
        <p:nvSpPr>
          <p:cNvPr id="3" name="">
            <a:extLst xmlns:a="http://schemas.openxmlformats.org/drawingml/2006/main">
              <a:ext uri="{FF2B5EF4-FFF2-40B4-BE49-F238E27FC236}">
                <a16:creationId xmlns:a16="http://schemas.microsoft.com/office/drawing/2014/main" id="{38611DAC-C69C-4F8B-B16D-DB0376B46193}"/>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29</a:t>
            </a:r>
          </a:p>
        </p:txBody>
      </p:sp>
      <p:sp>
        <p:nvSpPr>
          <p:cNvPr id="4" name="">
            <a:extLst xmlns:a="http://schemas.openxmlformats.org/drawingml/2006/main">
              <a:ext uri="{FF2B5EF4-FFF2-40B4-BE49-F238E27FC236}">
                <a16:creationId xmlns:a16="http://schemas.microsoft.com/office/drawing/2014/main" id="{FB964BD3-7083-4939-A392-05F31B95FF81}"/>
              </a:ext>
            </a:extLst>
          </p:cNvPr>
          <p:cNvSpPr>
            <a:spLocks xmlns:a="http://schemas.openxmlformats.org/drawingml/2006/main" noGrp="1"/>
          </p:cNvSpPr>
          <p:nvPr/>
        </p:nvSpPr>
        <p:spPr>
          <a:xfrm xmlns:a="http://schemas.openxmlformats.org/drawingml/2006/main">
            <a:off x="381000" y="1257300"/>
            <a:ext cx="3952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SPECIFICATION AND DESIGN</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Separate group from colour.</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Make the search decision explicit.</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Clarify how measures aggregate.</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Recover ontology from code,</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then improve the representation.</a:t>
            </a:r>
          </a:p>
        </p:txBody>
      </p:sp>
      <p:sp>
        <p:nvSpPr>
          <p:cNvPr id="5" name="">
            <a:extLst xmlns:a="http://schemas.openxmlformats.org/drawingml/2006/main">
              <a:ext uri="{FF2B5EF4-FFF2-40B4-BE49-F238E27FC236}">
                <a16:creationId xmlns:a16="http://schemas.microsoft.com/office/drawing/2014/main" id="{7A6F753A-A84E-493E-A647-547C3E98961D}"/>
              </a:ext>
            </a:extLst>
          </p:cNvPr>
          <p:cNvSpPr>
            <a:spLocks xmlns:a="http://schemas.openxmlformats.org/drawingml/2006/main" noGrp="1"/>
          </p:cNvSpPr>
          <p:nvPr/>
        </p:nvSpPr>
        <p:spPr>
          <a:xfrm xmlns:a="http://schemas.openxmlformats.org/drawingml/2006/main">
            <a:off x="4857750" y="1257300"/>
            <a:ext cx="39052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POLICY EXTENSION</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How would an intervention</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change choices or constraints?</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Add costs, discrimination or</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service access when relevant.</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Use local data and evaluation.</a:t>
            </a:r>
          </a:p>
        </p:txBody>
      </p:sp>
      <p:sp>
        <p:nvSpPr>
          <p:cNvPr id="6" name="">
            <a:extLst xmlns:a="http://schemas.openxmlformats.org/drawingml/2006/main">
              <a:ext uri="{FF2B5EF4-FFF2-40B4-BE49-F238E27FC236}">
                <a16:creationId xmlns:a16="http://schemas.microsoft.com/office/drawing/2014/main" id="{A27C80CA-9FA7-4B72-9939-7C7F05DD2104}"/>
              </a:ext>
            </a:extLst>
          </p:cNvPr>
          <p:cNvSpPr>
            <a:spLocks xmlns:a="http://schemas.openxmlformats.org/drawingml/2006/main" noGrp="1"/>
          </p:cNvSpPr>
          <p:nvPr/>
        </p:nvSpPr>
        <p:spPr>
          <a:xfrm xmlns:a="http://schemas.openxmlformats.org/drawingml/2006/main">
            <a:off x="381000" y="4219575"/>
            <a:ext cx="833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EF1616"/>
                </a:solidFill>
                <a:latin typeface="Arial"/>
                <a:ea typeface="Arial"/>
                <a:cs typeface="Arial"/>
              </a:defRPr>
            </a:defPPr>
          </a:lstStyle>
          <a:p xmlns:a="http://schemas.openxmlformats.org/drawingml/2006/main">
            <a:pPr>
              <a:defRPr sz="1650" b="1">
                <a:solidFill>
                  <a:srgbClr val="EF1616"/>
                </a:solidFill>
                <a:latin typeface="Arial"/>
                <a:ea typeface="Arial"/>
                <a:cs typeface="Arial"/>
              </a:defRPr>
            </a:pPr>
            <a:r>
              <a:rPr sz="1650" b="1">
                <a:solidFill>
                  <a:srgbClr val="EF1616"/>
                </a:solidFill>
                <a:latin typeface="Arial"/>
                <a:ea typeface="Arial"/>
                <a:cs typeface="Arial"/>
              </a:rPr>
              <a:t>Which assumptions must change before we can assess a real policy?</a:t>
            </a:r>
          </a:p>
        </p:txBody>
      </p:sp>
    </p:spTree>
    <p:extLst>
      <p:ext uri="{BB962C8B-B14F-4D97-AF65-F5344CB8AC3E}">
        <p14:creationId xmlns:p14="http://schemas.microsoft.com/office/powerpoint/2010/main" val="1109455297"/>
      </p:ext>
    </p:extLst>
  </p:cSld>
</p:sld>
</file>

<file path=ppt/slides/slide30.xml><?xml version="1.0" encoding="utf-8"?>
<p:sld xmlns:p="http://schemas.openxmlformats.org/presentationml/2006/main">
  <p:cSld>
    <p:bg>
      <p:bgPr>
        <a:solidFill xmlns:a="http://schemas.openxmlformats.org/drawingml/2006/main">
          <a:srgbClr val="FFFB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66D34F-4B8C-4CDB-A25B-25297BFE0C9B}"/>
              </a:ext>
            </a:extLst>
          </p:cNvPr>
          <p:cNvSpPr>
            <a:spLocks xmlns:a="http://schemas.openxmlformats.org/drawingml/2006/main" noGrp="1"/>
          </p:cNvSpPr>
          <p:nvPr/>
        </p:nvSpPr>
        <p:spPr>
          <a:xfrm xmlns:a="http://schemas.openxmlformats.org/drawingml/2006/main">
            <a:off x="304800" y="2095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11111"/>
                </a:solidFill>
                <a:latin typeface="Old Standard TT"/>
                <a:ea typeface="Old Standard TT"/>
                <a:cs typeface="Old Standard TT"/>
              </a:defRPr>
            </a:defPPr>
          </a:lstStyle>
          <a:p xmlns:a="http://schemas.openxmlformats.org/drawingml/2006/main">
            <a:pPr>
              <a:defRPr sz="2475" b="1">
                <a:solidFill>
                  <a:srgbClr val="111111"/>
                </a:solidFill>
                <a:latin typeface="Old Standard TT"/>
                <a:ea typeface="Old Standard TT"/>
                <a:cs typeface="Old Standard TT"/>
              </a:defRPr>
            </a:pPr>
            <a:r>
              <a:rPr sz="2475" b="1">
                <a:solidFill>
                  <a:srgbClr val="111111"/>
                </a:solidFill>
                <a:latin typeface="Old Standard TT"/>
                <a:ea typeface="Old Standard TT"/>
                <a:cs typeface="Old Standard TT"/>
              </a:rPr>
              <a:t>Sources and teaching adaptations</a:t>
            </a:r>
          </a:p>
        </p:txBody>
      </p:sp>
      <p:sp>
        <p:nvSpPr>
          <p:cNvPr id="2" name="">
            <a:extLst xmlns:a="http://schemas.openxmlformats.org/drawingml/2006/main">
              <a:ext uri="{FF2B5EF4-FFF2-40B4-BE49-F238E27FC236}">
                <a16:creationId xmlns:a16="http://schemas.microsoft.com/office/drawing/2014/main" id="{4929F6B9-5097-4AF5-9714-D032F90F7CDF}"/>
              </a:ext>
            </a:extLst>
          </p:cNvPr>
          <p:cNvSpPr>
            <a:spLocks xmlns:a="http://schemas.openxmlformats.org/drawingml/2006/main" noGrp="1"/>
          </p:cNvSpPr>
          <p:nvPr/>
        </p:nvSpPr>
        <p:spPr>
          <a:xfrm xmlns:a="http://schemas.openxmlformats.org/drawingml/2006/main">
            <a:off x="304800" y="4781550"/>
            <a:ext cx="790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555555"/>
                </a:solidFill>
                <a:latin typeface="Arial"/>
                <a:ea typeface="Arial"/>
                <a:cs typeface="Arial"/>
              </a:defRPr>
            </a:defPPr>
          </a:lstStyle>
          <a:p xmlns:a="http://schemas.openxmlformats.org/drawingml/2006/main">
            <a:pPr>
              <a:defRPr sz="1050" b="0">
                <a:solidFill>
                  <a:srgbClr val="555555"/>
                </a:solidFill>
                <a:latin typeface="Arial"/>
                <a:ea typeface="Arial"/>
                <a:cs typeface="Arial"/>
              </a:defRPr>
            </a:pPr>
            <a:r>
              <a:rPr sz="1050" b="0">
                <a:solidFill>
                  <a:srgbClr val="555555"/>
                </a:solidFill>
                <a:latin typeface="Arial"/>
                <a:ea typeface="Arial"/>
                <a:cs typeface="Arial"/>
              </a:rPr>
              <a:t>Source distinctions</a:t>
            </a:r>
          </a:p>
        </p:txBody>
      </p:sp>
      <p:sp>
        <p:nvSpPr>
          <p:cNvPr id="3" name="">
            <a:extLst xmlns:a="http://schemas.openxmlformats.org/drawingml/2006/main">
              <a:ext uri="{FF2B5EF4-FFF2-40B4-BE49-F238E27FC236}">
                <a16:creationId xmlns:a16="http://schemas.microsoft.com/office/drawing/2014/main" id="{6DB800B2-AA61-42BA-9E85-9D161CD27ED0}"/>
              </a:ext>
            </a:extLst>
          </p:cNvPr>
          <p:cNvSpPr>
            <a:spLocks xmlns:a="http://schemas.openxmlformats.org/drawingml/2006/main" noGrp="1"/>
          </p:cNvSpPr>
          <p:nvPr/>
        </p:nvSpPr>
        <p:spPr>
          <a:xfrm xmlns:a="http://schemas.openxmlformats.org/drawingml/2006/main">
            <a:off x="8667750" y="4781550"/>
            <a:ext cx="23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11111"/>
                </a:solidFill>
                <a:latin typeface="Arial"/>
                <a:ea typeface="Arial"/>
                <a:cs typeface="Arial"/>
              </a:defRPr>
            </a:defPPr>
          </a:lstStyle>
          <a:p xmlns:a="http://schemas.openxmlformats.org/drawingml/2006/main">
            <a:pPr>
              <a:defRPr sz="1050" b="0">
                <a:solidFill>
                  <a:srgbClr val="111111"/>
                </a:solidFill>
                <a:latin typeface="Arial"/>
                <a:ea typeface="Arial"/>
                <a:cs typeface="Arial"/>
              </a:defRPr>
            </a:pPr>
            <a:r>
              <a:rPr sz="1050" b="0">
                <a:solidFill>
                  <a:srgbClr val="111111"/>
                </a:solidFill>
                <a:latin typeface="Arial"/>
                <a:ea typeface="Arial"/>
                <a:cs typeface="Arial"/>
              </a:rPr>
              <a:t>30</a:t>
            </a:r>
          </a:p>
        </p:txBody>
      </p:sp>
      <p:sp>
        <p:nvSpPr>
          <p:cNvPr id="4" name="">
            <a:extLst xmlns:a="http://schemas.openxmlformats.org/drawingml/2006/main">
              <a:ext uri="{FF2B5EF4-FFF2-40B4-BE49-F238E27FC236}">
                <a16:creationId xmlns:a16="http://schemas.microsoft.com/office/drawing/2014/main" id="{E19FF8E7-3D90-46DF-B80E-38B583D1A5A5}"/>
              </a:ext>
            </a:extLst>
          </p:cNvPr>
          <p:cNvSpPr>
            <a:spLocks xmlns:a="http://schemas.openxmlformats.org/drawingml/2006/main" noGrp="1"/>
          </p:cNvSpPr>
          <p:nvPr/>
        </p:nvSpPr>
        <p:spPr>
          <a:xfrm xmlns:a="http://schemas.openxmlformats.org/drawingml/2006/main">
            <a:off x="381000" y="1257300"/>
            <a:ext cx="3952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SOURCE MATERIAL</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Schelling (1969): mechanism</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and individual/collective distinction.</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Wilensky (1997): NetLogo model</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and original procedure excerpts.</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OECD (2018): policy context.</a:t>
            </a:r>
          </a:p>
        </p:txBody>
      </p:sp>
      <p:sp>
        <p:nvSpPr>
          <p:cNvPr id="5" name="">
            <a:extLst xmlns:a="http://schemas.openxmlformats.org/drawingml/2006/main">
              <a:ext uri="{FF2B5EF4-FFF2-40B4-BE49-F238E27FC236}">
                <a16:creationId xmlns:a16="http://schemas.microsoft.com/office/drawing/2014/main" id="{B3C496DC-BB99-4DA7-8195-B371B7AA05EB}"/>
              </a:ext>
            </a:extLst>
          </p:cNvPr>
          <p:cNvSpPr>
            <a:spLocks xmlns:a="http://schemas.openxmlformats.org/drawingml/2006/main" noGrp="1"/>
          </p:cNvSpPr>
          <p:nvPr/>
        </p:nvSpPr>
        <p:spPr>
          <a:xfrm xmlns:a="http://schemas.openxmlformats.org/drawingml/2006/main">
            <a:off x="4857750" y="1257300"/>
            <a:ext cx="39052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11111"/>
                </a:solidFill>
                <a:latin typeface="Arial"/>
                <a:ea typeface="Arial"/>
                <a:cs typeface="Arial"/>
              </a:defRPr>
            </a:defPPr>
          </a:lstStyle>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TEACHING ADAPTATIONS</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Reverse-engineering sequence</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Four As and LUL reconstruction</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Simple flowcharts</a:t>
            </a:r>
          </a:p>
          <a:p xmlns:a="http://schemas.openxmlformats.org/drawingml/2006/main">
            <a:r>
              <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Proposed group state</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Proposed ifelse rewrite</a:t>
            </a:r>
          </a:p>
          <a:p xmlns:a="http://schemas.openxmlformats.org/drawingml/2006/main">
            <a:pPr>
              <a:defRPr sz="1875" b="0">
                <a:solidFill>
                  <a:srgbClr val="111111"/>
                </a:solidFill>
                <a:latin typeface="Arial"/>
                <a:ea typeface="Arial"/>
                <a:cs typeface="Arial"/>
              </a:defRPr>
            </a:pPr>
            <a:r>
              <a:rPr sz="1875" b="0">
                <a:solidFill>
                  <a:srgbClr val="111111"/>
                </a:solidFill>
                <a:latin typeface="Arial"/>
                <a:ea typeface="Arial"/>
                <a:cs typeface="Arial"/>
              </a:rPr>
              <a:t>Proposed BehaviorSpace study</a:t>
            </a:r>
          </a:p>
        </p:txBody>
      </p:sp>
    </p:spTree>
    <p:extLst>
      <p:ext uri="{BB962C8B-B14F-4D97-AF65-F5344CB8AC3E}">
        <p14:creationId xmlns:p14="http://schemas.microsoft.com/office/powerpoint/2010/main" val="11256942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2026-10-13T06:04:12.3690000Z</dcterms:created>
  <dcterms:modified xsi:type="dcterms:W3CDTF">2026-10-13T06:04:12.3690000Z</dcterms:modified>
</coreProperties>
</file>